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in the first ten seconds: there is no code in this talk. Everything here is about delegating work to something that does not get tired, does not ask questions, and will confidently tell you it finished when it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dwell on the price. The point of the slide is the reframe: a rationed expert is a staffing problem, and people already know how staffing problems are 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once, slowly, then put a finger on the return arrow. Most people's mental model of AI delegation stops at the third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 non-engineer audience gets the real shape of it: unattended means unattended. The helper approves its own actions, including ones that throw work away. There is no are-you-sure prompt in the middle. That is a deliberate trade,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land with any audience because none of them need code to understand. If you only have time for one, use the middle one — an error message that was wrong in the reassuring direction is the one people have never considered.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QA or product audience this is the slide that earns the talk. Green does not mean working; it means nothing that is being watched is broken. Ask the room whether they have shipped one of these three — hands go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3 surprises people who assume all the AI tools share a brain. They do not. The cheaper helper knows only what this one message tells it, and it will not stop itself, because it was started with permission to do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explaining the plumbing bug in detail. The takeaway is that a leaderboard score measured the wrong thing for this job, and the fix was to write down first-hand observations and admit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objection out loud before someone else does — it buys credibility for the rest. Then the code-review point, which is the part that survives any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contractor line — it is the sentence people will repeat afterwards. Leave the link up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9601200" y="3794760"/>
            <a:ext cx="3840480" cy="3840480"/>
          </a:xfrm>
          <a:prstGeom prst="ellipse">
            <a:avLst/>
          </a:prstGeom>
          <a:solidFill>
            <a:srgbClr val="EDE7FB"/>
          </a:solidFill>
          <a:ln/>
        </p:spPr>
      </p:sp>
      <p:sp>
        <p:nvSpPr>
          <p:cNvPr id="3" name="Shape 1"/>
          <p:cNvSpPr/>
          <p:nvPr/>
        </p:nvSpPr>
        <p:spPr>
          <a:xfrm>
            <a:off x="11247120" y="2514600"/>
            <a:ext cx="1554480" cy="1554480"/>
          </a:xfrm>
          <a:prstGeom prst="ellipse">
            <a:avLst/>
          </a:prstGeom>
          <a:solidFill>
            <a:srgbClr val="FCF1DF"/>
          </a:solidFill>
          <a:ln/>
        </p:spPr>
      </p:sp>
      <p:sp>
        <p:nvSpPr>
          <p:cNvPr id="4" name="Text 2"/>
          <p:cNvSpPr txBox="1"/>
          <p:nvPr/>
        </p:nvSpPr>
        <p:spPr>
          <a:xfrm>
            <a:off x="640080" y="1417320"/>
            <a:ext cx="822960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ourier New" pitchFamily="34" charset="0"/>
                <a:ea typeface="Courier New" pitchFamily="34" charset="-122"/>
                <a:cs typeface="Courier New" pitchFamily="34" charset="-120"/>
              </a:rPr>
              <a:t>A PRACTICAL TALK · NO CODE IN IT</a:t>
            </a:r>
            <a:endParaRPr lang="en-US" sz="1200" dirty="0"/>
          </a:p>
        </p:txBody>
      </p:sp>
      <p:sp>
        <p:nvSpPr>
          <p:cNvPr id="5" name="Text 3"/>
          <p:cNvSpPr txBox="1"/>
          <p:nvPr/>
        </p:nvSpPr>
        <p:spPr>
          <a:xfrm>
            <a:off x="640080" y="1828800"/>
            <a:ext cx="9875520" cy="914400"/>
          </a:xfrm>
          <a:prstGeom prst="rect">
            <a:avLst/>
          </a:prstGeom>
          <a:noFill/>
          <a:ln/>
        </p:spPr>
        <p:txBody>
          <a:bodyPr wrap="square" lIns="0" tIns="0" rIns="0" bIns="0" rtlCol="0" anchor="ctr"/>
          <a:lstStyle/>
          <a:p>
            <a:pPr indent="0" marL="0">
              <a:buNone/>
            </a:pPr>
            <a:r>
              <a:rPr lang="en-US" sz="4600" b="1" spc="-70" kern="0" dirty="0">
                <a:solidFill>
                  <a:srgbClr val="16191D"/>
                </a:solidFill>
                <a:latin typeface="Arial" pitchFamily="34" charset="0"/>
                <a:ea typeface="Arial" pitchFamily="34" charset="-122"/>
                <a:cs typeface="Arial" pitchFamily="34" charset="-120"/>
              </a:rPr>
              <a:t>Getting AI to do the boring half</a:t>
            </a:r>
            <a:endParaRPr lang="en-US" sz="4600" dirty="0"/>
          </a:p>
        </p:txBody>
      </p:sp>
      <p:sp>
        <p:nvSpPr>
          <p:cNvPr id="6" name="Text 4"/>
          <p:cNvSpPr txBox="1"/>
          <p:nvPr/>
        </p:nvSpPr>
        <p:spPr>
          <a:xfrm>
            <a:off x="640080" y="2834640"/>
            <a:ext cx="9692640" cy="548640"/>
          </a:xfrm>
          <a:prstGeom prst="rect">
            <a:avLst/>
          </a:prstGeom>
          <a:noFill/>
          <a:ln/>
        </p:spPr>
        <p:txBody>
          <a:bodyPr wrap="square" lIns="0" tIns="0" rIns="0" bIns="0" rtlCol="0" anchor="ctr"/>
          <a:lstStyle/>
          <a:p>
            <a:pPr indent="0" marL="0">
              <a:buNone/>
            </a:pPr>
            <a:r>
              <a:rPr lang="en-US" sz="2400" b="1" dirty="0">
                <a:solidFill>
                  <a:srgbClr val="16191D"/>
                </a:solidFill>
                <a:latin typeface="Arial" pitchFamily="34" charset="0"/>
                <a:ea typeface="Arial" pitchFamily="34" charset="-122"/>
                <a:cs typeface="Arial" pitchFamily="34" charset="-120"/>
              </a:rPr>
              <a:t>…and the much harder problem of </a:t>
            </a:r>
            <a:pPr indent="0" marL="0">
              <a:buNone/>
            </a:pPr>
            <a:r>
              <a:rPr lang="en-US" sz="2400" b="1" dirty="0">
                <a:solidFill>
                  <a:srgbClr val="6D4AC4"/>
                </a:solidFill>
                <a:latin typeface="Arial" pitchFamily="34" charset="0"/>
                <a:ea typeface="Arial" pitchFamily="34" charset="-122"/>
                <a:cs typeface="Arial" pitchFamily="34" charset="-120"/>
              </a:rPr>
              <a:t>checking its work.</a:t>
            </a:r>
            <a:endParaRPr lang="en-US" sz="2400" dirty="0"/>
          </a:p>
        </p:txBody>
      </p:sp>
      <p:sp>
        <p:nvSpPr>
          <p:cNvPr id="7" name="Text 5"/>
          <p:cNvSpPr txBox="1"/>
          <p:nvPr/>
        </p:nvSpPr>
        <p:spPr>
          <a:xfrm>
            <a:off x="640080" y="3611880"/>
            <a:ext cx="7863840" cy="822960"/>
          </a:xfrm>
          <a:prstGeom prst="rect">
            <a:avLst/>
          </a:prstGeom>
          <a:noFill/>
          <a:ln/>
        </p:spPr>
        <p:txBody>
          <a:bodyPr wrap="square" lIns="0" tIns="0" rIns="0" bIns="0" rtlCol="0" anchor="t"/>
          <a:lstStyle/>
          <a:p>
            <a:pPr indent="0" marL="0">
              <a:lnSpc>
                <a:spcPct val="125000"/>
              </a:lnSpc>
              <a:buNone/>
            </a:pPr>
            <a:r>
              <a:rPr lang="en-US" sz="1600" dirty="0">
                <a:solidFill>
                  <a:srgbClr val="6B7280"/>
                </a:solidFill>
                <a:latin typeface="Calibri" pitchFamily="34" charset="0"/>
                <a:ea typeface="Calibri" pitchFamily="34" charset="-122"/>
                <a:cs typeface="Calibri" pitchFamily="34" charset="-120"/>
              </a:rPr>
              <a:t>The expensive AI assistant decides what to build and whether it came out right. Cheaper ones do the typing. Everything interesting is in the handoff between them.</a:t>
            </a:r>
            <a:endParaRPr lang="en-US" sz="1600" dirty="0"/>
          </a:p>
        </p:txBody>
      </p:sp>
      <p:sp>
        <p:nvSpPr>
          <p:cNvPr id="8" name="Text 6"/>
          <p:cNvSpPr txBox="1"/>
          <p:nvPr/>
        </p:nvSpPr>
        <p:spPr>
          <a:xfrm>
            <a:off x="640080" y="5029200"/>
            <a:ext cx="8229600" cy="365760"/>
          </a:xfrm>
          <a:prstGeom prst="rect">
            <a:avLst/>
          </a:prstGeom>
          <a:noFill/>
          <a:ln/>
        </p:spPr>
        <p:txBody>
          <a:bodyPr wrap="square" lIns="0" tIns="0" rIns="0" bIns="0" rtlCol="0" anchor="ctr"/>
          <a:lstStyle/>
          <a:p>
            <a:pPr indent="0" marL="0">
              <a:buNone/>
            </a:pPr>
            <a:r>
              <a:rPr lang="en-US" sz="1400" dirty="0">
                <a:solidFill>
                  <a:srgbClr val="16191D"/>
                </a:solidFill>
                <a:latin typeface="Calibri" pitchFamily="34" charset="0"/>
                <a:ea typeface="Calibri" pitchFamily="34" charset="-122"/>
                <a:cs typeface="Calibri" pitchFamily="34" charset="-120"/>
              </a:rPr>
              <a:t>Arthur Carroll  ·  a small open-source tool, and what it taught me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algn="l" indent="0" marL="0">
              <a:buNone/>
            </a:pPr>
            <a:r>
              <a:rPr lang="en-US" sz="3800" b="1" spc="-30" kern="0" dirty="0">
                <a:solidFill>
                  <a:srgbClr val="16191D"/>
                </a:solidFill>
                <a:latin typeface="Arial" pitchFamily="34" charset="0"/>
                <a:ea typeface="Arial" pitchFamily="34" charset="-122"/>
                <a:cs typeface="Arial" pitchFamily="34" charset="-120"/>
              </a:rPr>
              <a:t>The good AI help is metered</a:t>
            </a:r>
            <a:endParaRPr lang="en-US" sz="3800" dirty="0"/>
          </a:p>
        </p:txBody>
      </p:sp>
      <p:sp>
        <p:nvSpPr>
          <p:cNvPr id="3" name="Text 1"/>
          <p:cNvSpPr txBox="1"/>
          <p:nvPr/>
        </p:nvSpPr>
        <p:spPr>
          <a:xfrm>
            <a:off x="640080" y="1234440"/>
            <a:ext cx="10911535" cy="274320"/>
          </a:xfrm>
          <a:prstGeom prst="rect">
            <a:avLst/>
          </a:prstGeom>
          <a:noFill/>
          <a:ln/>
        </p:spPr>
        <p:txBody>
          <a:bodyPr wrap="square" lIns="0" tIns="0" rIns="0" bIns="0" rtlCol="0" anchor="ctr"/>
          <a:lstStyle/>
          <a:p>
            <a:pPr algn="l" indent="0" marL="0">
              <a:buNone/>
            </a:pPr>
            <a:r>
              <a:rPr lang="en-US" sz="1100" b="1" spc="120" kern="0" dirty="0">
                <a:solidFill>
                  <a:srgbClr val="6D4AC4"/>
                </a:solidFill>
                <a:latin typeface="Courier New" pitchFamily="34" charset="0"/>
                <a:ea typeface="Courier New" pitchFamily="34" charset="-122"/>
                <a:cs typeface="Courier New" pitchFamily="34" charset="-120"/>
              </a:rPr>
              <a:t>THE PROBLEM</a:t>
            </a:r>
            <a:endParaRPr lang="en-US" sz="1100" dirty="0"/>
          </a:p>
        </p:txBody>
      </p:sp>
      <p:sp>
        <p:nvSpPr>
          <p:cNvPr id="4" name="Text 2"/>
          <p:cNvSpPr txBox="1"/>
          <p:nvPr/>
        </p:nvSpPr>
        <p:spPr>
          <a:xfrm>
            <a:off x="640080" y="1737360"/>
            <a:ext cx="2377440" cy="1188720"/>
          </a:xfrm>
          <a:prstGeom prst="rect">
            <a:avLst/>
          </a:prstGeom>
          <a:noFill/>
          <a:ln/>
        </p:spPr>
        <p:txBody>
          <a:bodyPr wrap="square" lIns="0" tIns="0" rIns="0" bIns="0" rtlCol="0" anchor="ctr"/>
          <a:lstStyle/>
          <a:p>
            <a:pPr indent="0" marL="0">
              <a:buNone/>
            </a:pPr>
            <a:r>
              <a:rPr lang="en-US" sz="6600" b="1" spc="-100" kern="0" dirty="0">
                <a:solidFill>
                  <a:srgbClr val="6D4AC4"/>
                </a:solidFill>
                <a:latin typeface="Arial" pitchFamily="34" charset="0"/>
                <a:ea typeface="Arial" pitchFamily="34" charset="-122"/>
                <a:cs typeface="Arial" pitchFamily="34" charset="-120"/>
              </a:rPr>
              <a:t>$20</a:t>
            </a:r>
            <a:endParaRPr lang="en-US" sz="6600" dirty="0"/>
          </a:p>
        </p:txBody>
      </p:sp>
      <p:sp>
        <p:nvSpPr>
          <p:cNvPr id="5" name="Text 3"/>
          <p:cNvSpPr txBox="1"/>
          <p:nvPr/>
        </p:nvSpPr>
        <p:spPr>
          <a:xfrm>
            <a:off x="640080" y="2880360"/>
            <a:ext cx="4754880" cy="1005840"/>
          </a:xfrm>
          <a:prstGeom prst="rect">
            <a:avLst/>
          </a:prstGeom>
          <a:noFill/>
          <a:ln/>
        </p:spPr>
        <p:txBody>
          <a:bodyPr wrap="square" lIns="0" tIns="0" rIns="0" bIns="0" rtlCol="0" anchor="t"/>
          <a:lstStyle/>
          <a:p>
            <a:pPr indent="0" marL="0">
              <a:lnSpc>
                <a:spcPct val="125000"/>
              </a:lnSpc>
              <a:buNone/>
            </a:pPr>
            <a:r>
              <a:rPr lang="en-US" sz="1600" dirty="0">
                <a:solidFill>
                  <a:srgbClr val="16191D"/>
                </a:solidFill>
                <a:latin typeface="Calibri" pitchFamily="34" charset="0"/>
                <a:ea typeface="Calibri" pitchFamily="34" charset="-122"/>
                <a:cs typeface="Calibri" pitchFamily="34" charset="-120"/>
              </a:rPr>
              <a:t>a month buys a fixed amount of the best model's attention. Run out on a Tuesday afternoon and you are waiting hours, mid-task.</a:t>
            </a:r>
            <a:endParaRPr lang="en-US" sz="1600" dirty="0"/>
          </a:p>
        </p:txBody>
      </p:sp>
      <p:sp>
        <p:nvSpPr>
          <p:cNvPr id="6" name="Shape 4"/>
          <p:cNvSpPr/>
          <p:nvPr/>
        </p:nvSpPr>
        <p:spPr>
          <a:xfrm>
            <a:off x="640080" y="4114800"/>
            <a:ext cx="4754880" cy="1691640"/>
          </a:xfrm>
          <a:prstGeom prst="roundRect">
            <a:avLst>
              <a:gd name="adj" fmla="val 3243"/>
            </a:avLst>
          </a:prstGeom>
          <a:solidFill>
            <a:srgbClr val="EDE7FB"/>
          </a:solidFill>
          <a:ln w="12700">
            <a:solidFill>
              <a:srgbClr val="CFC0F0"/>
            </a:solidFill>
            <a:prstDash val="solid"/>
          </a:ln>
        </p:spPr>
      </p:sp>
      <p:sp>
        <p:nvSpPr>
          <p:cNvPr id="7" name="Text 5"/>
          <p:cNvSpPr txBox="1"/>
          <p:nvPr/>
        </p:nvSpPr>
        <p:spPr>
          <a:xfrm>
            <a:off x="914400" y="4279392"/>
            <a:ext cx="4206240" cy="292608"/>
          </a:xfrm>
          <a:prstGeom prst="rect">
            <a:avLst/>
          </a:prstGeom>
          <a:noFill/>
          <a:ln/>
        </p:spPr>
        <p:txBody>
          <a:bodyPr wrap="square" lIns="0" tIns="0" rIns="0" bIns="0" rtlCol="0" anchor="ctr"/>
          <a:lstStyle/>
          <a:p>
            <a:pPr indent="0" marL="0">
              <a:buNone/>
            </a:pPr>
            <a:r>
              <a:rPr lang="en-US" sz="1500" b="1" dirty="0">
                <a:solidFill>
                  <a:srgbClr val="16191D"/>
                </a:solidFill>
                <a:latin typeface="Arial" pitchFamily="34" charset="0"/>
                <a:ea typeface="Arial" pitchFamily="34" charset="-122"/>
                <a:cs typeface="Arial" pitchFamily="34" charset="-120"/>
              </a:rPr>
              <a:t>The useful way to think about it</a:t>
            </a:r>
            <a:endParaRPr lang="en-US" sz="1500" dirty="0"/>
          </a:p>
        </p:txBody>
      </p:sp>
      <p:sp>
        <p:nvSpPr>
          <p:cNvPr id="8" name="Text 6"/>
          <p:cNvSpPr txBox="1"/>
          <p:nvPr/>
        </p:nvSpPr>
        <p:spPr>
          <a:xfrm>
            <a:off x="914400" y="4617720"/>
            <a:ext cx="4206240" cy="1051560"/>
          </a:xfrm>
          <a:prstGeom prst="rect">
            <a:avLst/>
          </a:prstGeom>
          <a:noFill/>
          <a:ln/>
        </p:spPr>
        <p:txBody>
          <a:bodyPr wrap="square" lIns="0" tIns="0" rIns="0" bIns="0" rtlCol="0" anchor="t"/>
          <a:lstStyle/>
          <a:p>
            <a:pPr indent="0" marL="0">
              <a:lnSpc>
                <a:spcPct val="120000"/>
              </a:lnSpc>
              <a:buNone/>
            </a:pPr>
            <a:r>
              <a:rPr lang="en-US" sz="1450" dirty="0">
                <a:solidFill>
                  <a:srgbClr val="16191D"/>
                </a:solidFill>
                <a:latin typeface="Calibri" pitchFamily="34" charset="0"/>
                <a:ea typeface="Calibri" pitchFamily="34" charset="-122"/>
                <a:cs typeface="Calibri" pitchFamily="34" charset="-120"/>
              </a:rPr>
              <a:t>It is not “AI is expensive.” It is that the expert's time is the scarce thing — exactly like a team with one senior engineer and a lot of work.</a:t>
            </a:r>
            <a:endParaRPr lang="en-US" sz="1450" dirty="0"/>
          </a:p>
        </p:txBody>
      </p:sp>
      <p:sp>
        <p:nvSpPr>
          <p:cNvPr id="9" name="Shape 7"/>
          <p:cNvSpPr/>
          <p:nvPr/>
        </p:nvSpPr>
        <p:spPr>
          <a:xfrm>
            <a:off x="5943600" y="1737360"/>
            <a:ext cx="5608015" cy="4069080"/>
          </a:xfrm>
          <a:prstGeom prst="roundRect">
            <a:avLst>
              <a:gd name="adj" fmla="val 1348"/>
            </a:avLst>
          </a:prstGeom>
          <a:solidFill>
            <a:srgbClr val="F4F5F7"/>
          </a:solidFill>
          <a:ln w="12700">
            <a:solidFill>
              <a:srgbClr val="DCE0E6"/>
            </a:solidFill>
            <a:prstDash val="solid"/>
          </a:ln>
        </p:spPr>
      </p:sp>
      <p:sp>
        <p:nvSpPr>
          <p:cNvPr id="10" name="Text 8"/>
          <p:cNvSpPr txBox="1"/>
          <p:nvPr/>
        </p:nvSpPr>
        <p:spPr>
          <a:xfrm>
            <a:off x="6217920" y="1938528"/>
            <a:ext cx="5029200" cy="320040"/>
          </a:xfrm>
          <a:prstGeom prst="rect">
            <a:avLst/>
          </a:prstGeom>
          <a:noFill/>
          <a:ln/>
        </p:spPr>
        <p:txBody>
          <a:bodyPr wrap="square" lIns="0" tIns="0" rIns="0" bIns="0" rtlCol="0" anchor="ctr"/>
          <a:lstStyle/>
          <a:p>
            <a:pPr indent="0" marL="0">
              <a:buNone/>
            </a:pPr>
            <a:r>
              <a:rPr lang="en-US" sz="1800" b="1" dirty="0">
                <a:solidFill>
                  <a:srgbClr val="16191D"/>
                </a:solidFill>
                <a:latin typeface="Arial" pitchFamily="34" charset="0"/>
                <a:ea typeface="Arial" pitchFamily="34" charset="-122"/>
                <a:cs typeface="Arial" pitchFamily="34" charset="-120"/>
              </a:rPr>
              <a:t>So you have two kinds of help</a:t>
            </a:r>
            <a:endParaRPr lang="en-US" sz="1800" dirty="0"/>
          </a:p>
        </p:txBody>
      </p:sp>
      <p:sp>
        <p:nvSpPr>
          <p:cNvPr id="11" name="Shape 9"/>
          <p:cNvSpPr/>
          <p:nvPr/>
        </p:nvSpPr>
        <p:spPr>
          <a:xfrm>
            <a:off x="6217920" y="2542032"/>
            <a:ext cx="420624" cy="420624"/>
          </a:xfrm>
          <a:prstGeom prst="ellipse">
            <a:avLst/>
          </a:prstGeom>
          <a:solidFill>
            <a:srgbClr val="6D4AC4"/>
          </a:solidFill>
          <a:ln/>
        </p:spPr>
      </p:sp>
      <p:sp>
        <p:nvSpPr>
          <p:cNvPr id="12" name="Text 10"/>
          <p:cNvSpPr txBox="1"/>
          <p:nvPr/>
        </p:nvSpPr>
        <p:spPr>
          <a:xfrm>
            <a:off x="6217920" y="2542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1"/>
          <p:cNvSpPr txBox="1"/>
          <p:nvPr/>
        </p:nvSpPr>
        <p:spPr>
          <a:xfrm>
            <a:off x="6812280" y="2523744"/>
            <a:ext cx="4572000" cy="347472"/>
          </a:xfrm>
          <a:prstGeom prst="rect">
            <a:avLst/>
          </a:prstGeom>
          <a:noFill/>
          <a:ln/>
        </p:spPr>
        <p:txBody>
          <a:bodyPr wrap="square" lIns="0" tIns="0" rIns="0" bIns="0" rtlCol="0" anchor="ctr"/>
          <a:lstStyle/>
          <a:p>
            <a:pPr indent="0" marL="0">
              <a:buNone/>
            </a:pPr>
            <a:r>
              <a:rPr lang="en-US" sz="1600" b="1" dirty="0">
                <a:solidFill>
                  <a:srgbClr val="16191D"/>
                </a:solidFill>
                <a:latin typeface="Arial" pitchFamily="34" charset="0"/>
                <a:ea typeface="Arial" pitchFamily="34" charset="-122"/>
                <a:cs typeface="Arial" pitchFamily="34" charset="-120"/>
              </a:rPr>
              <a:t>Expensive and excellent</a:t>
            </a:r>
            <a:endParaRPr lang="en-US" sz="1600" dirty="0"/>
          </a:p>
        </p:txBody>
      </p:sp>
      <p:sp>
        <p:nvSpPr>
          <p:cNvPr id="14" name="Text 12"/>
          <p:cNvSpPr txBox="1"/>
          <p:nvPr/>
        </p:nvSpPr>
        <p:spPr>
          <a:xfrm>
            <a:off x="6812280" y="2926080"/>
            <a:ext cx="4526280" cy="868680"/>
          </a:xfrm>
          <a:prstGeom prst="rect">
            <a:avLst/>
          </a:prstGeom>
          <a:noFill/>
          <a:ln/>
        </p:spPr>
        <p:txBody>
          <a:bodyPr wrap="square" lIns="0" tIns="0" rIns="0" bIns="0" rtlCol="0" anchor="t"/>
          <a:lstStyle/>
          <a:p>
            <a:pPr indent="0" marL="0">
              <a:lnSpc>
                <a:spcPct val="120000"/>
              </a:lnSpc>
              <a:buNone/>
            </a:pPr>
            <a:r>
              <a:rPr lang="en-US" sz="1450" dirty="0">
                <a:solidFill>
                  <a:srgbClr val="16191D"/>
                </a:solidFill>
                <a:latin typeface="Calibri" pitchFamily="34" charset="0"/>
                <a:ea typeface="Calibri" pitchFamily="34" charset="-122"/>
                <a:cs typeface="Calibri" pitchFamily="34" charset="-120"/>
              </a:rPr>
              <a:t>Strictly limited. Worth spending on decisions and on judging results.</a:t>
            </a:r>
            <a:endParaRPr lang="en-US" sz="1450" dirty="0"/>
          </a:p>
        </p:txBody>
      </p:sp>
      <p:sp>
        <p:nvSpPr>
          <p:cNvPr id="15" name="Shape 13"/>
          <p:cNvSpPr/>
          <p:nvPr/>
        </p:nvSpPr>
        <p:spPr>
          <a:xfrm>
            <a:off x="6217920" y="4142232"/>
            <a:ext cx="420624" cy="420624"/>
          </a:xfrm>
          <a:prstGeom prst="ellipse">
            <a:avLst/>
          </a:prstGeom>
          <a:solidFill>
            <a:srgbClr val="C1690C"/>
          </a:solidFill>
          <a:ln/>
        </p:spPr>
      </p:sp>
      <p:sp>
        <p:nvSpPr>
          <p:cNvPr id="16" name="Text 14"/>
          <p:cNvSpPr txBox="1"/>
          <p:nvPr/>
        </p:nvSpPr>
        <p:spPr>
          <a:xfrm>
            <a:off x="6217920" y="41422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7" name="Text 15"/>
          <p:cNvSpPr txBox="1"/>
          <p:nvPr/>
        </p:nvSpPr>
        <p:spPr>
          <a:xfrm>
            <a:off x="6812280" y="4123944"/>
            <a:ext cx="4572000" cy="347472"/>
          </a:xfrm>
          <a:prstGeom prst="rect">
            <a:avLst/>
          </a:prstGeom>
          <a:noFill/>
          <a:ln/>
        </p:spPr>
        <p:txBody>
          <a:bodyPr wrap="square" lIns="0" tIns="0" rIns="0" bIns="0" rtlCol="0" anchor="ctr"/>
          <a:lstStyle/>
          <a:p>
            <a:pPr indent="0" marL="0">
              <a:buNone/>
            </a:pPr>
            <a:r>
              <a:rPr lang="en-US" sz="1600" b="1" dirty="0">
                <a:solidFill>
                  <a:srgbClr val="16191D"/>
                </a:solidFill>
                <a:latin typeface="Arial" pitchFamily="34" charset="0"/>
                <a:ea typeface="Arial" pitchFamily="34" charset="-122"/>
                <a:cs typeface="Arial" pitchFamily="34" charset="-120"/>
              </a:rPr>
              <a:t>Cheap and plentiful</a:t>
            </a:r>
            <a:endParaRPr lang="en-US" sz="1600" dirty="0"/>
          </a:p>
        </p:txBody>
      </p:sp>
      <p:sp>
        <p:nvSpPr>
          <p:cNvPr id="18" name="Text 16"/>
          <p:cNvSpPr txBox="1"/>
          <p:nvPr/>
        </p:nvSpPr>
        <p:spPr>
          <a:xfrm>
            <a:off x="6812280" y="4526280"/>
            <a:ext cx="4526280" cy="868680"/>
          </a:xfrm>
          <a:prstGeom prst="rect">
            <a:avLst/>
          </a:prstGeom>
          <a:noFill/>
          <a:ln/>
        </p:spPr>
        <p:txBody>
          <a:bodyPr wrap="square" lIns="0" tIns="0" rIns="0" bIns="0" rtlCol="0" anchor="t"/>
          <a:lstStyle/>
          <a:p>
            <a:pPr indent="0" marL="0">
              <a:lnSpc>
                <a:spcPct val="120000"/>
              </a:lnSpc>
              <a:buNone/>
            </a:pPr>
            <a:r>
              <a:rPr lang="en-US" sz="1450" dirty="0">
                <a:solidFill>
                  <a:srgbClr val="16191D"/>
                </a:solidFill>
                <a:latin typeface="Calibri" pitchFamily="34" charset="0"/>
                <a:ea typeface="Calibri" pitchFamily="34" charset="-122"/>
                <a:cs typeface="Calibri" pitchFamily="34" charset="-120"/>
              </a:rPr>
              <a:t>Other providers give away far more capacity. Good at following exact instructions.</a:t>
            </a:r>
            <a:endParaRPr lang="en-US" sz="1450" dirty="0"/>
          </a:p>
        </p:txBody>
      </p:sp>
      <p:sp>
        <p:nvSpPr>
          <p:cNvPr id="19" name="Text 17"/>
          <p:cNvSpPr txBox="1"/>
          <p:nvPr/>
        </p:nvSpPr>
        <p:spPr>
          <a:xfrm>
            <a:off x="6217920" y="5257800"/>
            <a:ext cx="5120640" cy="365760"/>
          </a:xfrm>
          <a:prstGeom prst="rect">
            <a:avLst/>
          </a:prstGeom>
          <a:noFill/>
          <a:ln/>
        </p:spPr>
        <p:txBody>
          <a:bodyPr wrap="square" lIns="0" tIns="0" rIns="0" bIns="0" rtlCol="0" anchor="ctr"/>
          <a:lstStyle/>
          <a:p>
            <a:pPr indent="0" marL="0">
              <a:buNone/>
            </a:pPr>
            <a:r>
              <a:rPr lang="en-US" sz="1450" b="1" dirty="0">
                <a:solidFill>
                  <a:srgbClr val="6D4AC4"/>
                </a:solidFill>
                <a:latin typeface="Calibri" pitchFamily="34" charset="0"/>
                <a:ea typeface="Calibri" pitchFamily="34" charset="-122"/>
                <a:cs typeface="Calibri" pitchFamily="34" charset="-120"/>
              </a:rPr>
              <a:t>The whole idea is just: stop using the expensive one for typing.</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algn="l" indent="0" marL="0">
              <a:buNone/>
            </a:pPr>
            <a:r>
              <a:rPr lang="en-US" sz="3800" b="1" spc="-30" kern="0" dirty="0">
                <a:solidFill>
                  <a:srgbClr val="16191D"/>
                </a:solidFill>
                <a:latin typeface="Arial" pitchFamily="34" charset="0"/>
                <a:ea typeface="Arial" pitchFamily="34" charset="-122"/>
                <a:cs typeface="Arial" pitchFamily="34" charset="-120"/>
              </a:rPr>
              <a:t>Like a contractor and a crew</a:t>
            </a:r>
            <a:endParaRPr lang="en-US" sz="3800" dirty="0"/>
          </a:p>
        </p:txBody>
      </p:sp>
      <p:sp>
        <p:nvSpPr>
          <p:cNvPr id="3" name="Text 1"/>
          <p:cNvSpPr txBox="1"/>
          <p:nvPr/>
        </p:nvSpPr>
        <p:spPr>
          <a:xfrm>
            <a:off x="640080" y="1234440"/>
            <a:ext cx="10911535" cy="274320"/>
          </a:xfrm>
          <a:prstGeom prst="rect">
            <a:avLst/>
          </a:prstGeom>
          <a:noFill/>
          <a:ln/>
        </p:spPr>
        <p:txBody>
          <a:bodyPr wrap="square" lIns="0" tIns="0" rIns="0" bIns="0" rtlCol="0" anchor="ctr"/>
          <a:lstStyle/>
          <a:p>
            <a:pPr algn="l" indent="0" marL="0">
              <a:buNone/>
            </a:pPr>
            <a:r>
              <a:rPr lang="en-US" sz="1100" b="1" spc="120" kern="0" dirty="0">
                <a:solidFill>
                  <a:srgbClr val="6D4AC4"/>
                </a:solidFill>
                <a:latin typeface="Courier New" pitchFamily="34" charset="0"/>
                <a:ea typeface="Courier New" pitchFamily="34" charset="-122"/>
                <a:cs typeface="Courier New" pitchFamily="34" charset="-120"/>
              </a:rPr>
              <a:t>THE IDEA</a:t>
            </a:r>
            <a:endParaRPr lang="en-US" sz="1100" dirty="0"/>
          </a:p>
        </p:txBody>
      </p:sp>
      <p:sp>
        <p:nvSpPr>
          <p:cNvPr id="4" name="Shape 2"/>
          <p:cNvSpPr/>
          <p:nvPr/>
        </p:nvSpPr>
        <p:spPr>
          <a:xfrm>
            <a:off x="640080" y="2331720"/>
            <a:ext cx="2468880" cy="1463040"/>
          </a:xfrm>
          <a:prstGeom prst="roundRect">
            <a:avLst>
              <a:gd name="adj" fmla="val 3750"/>
            </a:avLst>
          </a:prstGeom>
          <a:solidFill>
            <a:srgbClr val="EDE7FB"/>
          </a:solidFill>
          <a:ln w="12700">
            <a:solidFill>
              <a:srgbClr val="CFC0F0"/>
            </a:solidFill>
            <a:prstDash val="solid"/>
          </a:ln>
        </p:spPr>
      </p:sp>
      <p:sp>
        <p:nvSpPr>
          <p:cNvPr id="5" name="Text 3"/>
          <p:cNvSpPr txBox="1"/>
          <p:nvPr/>
        </p:nvSpPr>
        <p:spPr>
          <a:xfrm>
            <a:off x="640080" y="2514600"/>
            <a:ext cx="2468880" cy="320040"/>
          </a:xfrm>
          <a:prstGeom prst="rect">
            <a:avLst/>
          </a:prstGeom>
          <a:noFill/>
          <a:ln/>
        </p:spPr>
        <p:txBody>
          <a:bodyPr wrap="square" lIns="0" tIns="0" rIns="0" bIns="0" rtlCol="0" anchor="ctr"/>
          <a:lstStyle/>
          <a:p>
            <a:pPr algn="ctr" indent="0" marL="0">
              <a:buNone/>
            </a:pPr>
            <a:r>
              <a:rPr lang="en-US" sz="1600" b="1" dirty="0">
                <a:solidFill>
                  <a:srgbClr val="16191D"/>
                </a:solidFill>
                <a:latin typeface="Arial" pitchFamily="34" charset="0"/>
                <a:ea typeface="Arial" pitchFamily="34" charset="-122"/>
                <a:cs typeface="Arial" pitchFamily="34" charset="-120"/>
              </a:rPr>
              <a:t>The expert</a:t>
            </a:r>
            <a:endParaRPr lang="en-US" sz="1600" dirty="0"/>
          </a:p>
        </p:txBody>
      </p:sp>
      <p:sp>
        <p:nvSpPr>
          <p:cNvPr id="6" name="Text 4"/>
          <p:cNvSpPr txBox="1"/>
          <p:nvPr/>
        </p:nvSpPr>
        <p:spPr>
          <a:xfrm>
            <a:off x="640080" y="2852928"/>
            <a:ext cx="2468880" cy="685800"/>
          </a:xfrm>
          <a:prstGeom prst="rect">
            <a:avLst/>
          </a:prstGeom>
          <a:noFill/>
          <a:ln/>
        </p:spPr>
        <p:txBody>
          <a:bodyPr wrap="square" lIns="0" tIns="0" rIns="0" bIns="0" rtlCol="0" anchor="ctr"/>
          <a:lstStyle/>
          <a:p>
            <a:pPr algn="ctr" indent="0" marL="0">
              <a:lnSpc>
                <a:spcPct val="115000"/>
              </a:lnSpc>
              <a:buNone/>
            </a:pPr>
            <a:r>
              <a:rPr lang="en-US" sz="1400" dirty="0">
                <a:solidFill>
                  <a:srgbClr val="16191D"/>
                </a:solidFill>
                <a:latin typeface="Calibri" pitchFamily="34" charset="0"/>
                <a:ea typeface="Calibri" pitchFamily="34" charset="-122"/>
                <a:cs typeface="Calibri" pitchFamily="34" charset="-120"/>
              </a:rPr>
              <a:t>decides what to build,</a:t>
            </a:r>
            <a:endParaRPr lang="en-US" sz="1400" dirty="0"/>
          </a:p>
          <a:p>
            <a:pPr algn="ctr" indent="0" marL="0">
              <a:lnSpc>
                <a:spcPct val="115000"/>
              </a:lnSpc>
              <a:buNone/>
            </a:pPr>
            <a:r>
              <a:rPr lang="en-US" sz="1400" dirty="0">
                <a:solidFill>
                  <a:srgbClr val="16191D"/>
                </a:solidFill>
                <a:latin typeface="Calibri" pitchFamily="34" charset="0"/>
                <a:ea typeface="Calibri" pitchFamily="34" charset="-122"/>
                <a:cs typeface="Calibri" pitchFamily="34" charset="-120"/>
              </a:rPr>
              <a:t>then inspects it</a:t>
            </a:r>
            <a:endParaRPr lang="en-US" sz="1400" dirty="0"/>
          </a:p>
        </p:txBody>
      </p:sp>
      <p:sp>
        <p:nvSpPr>
          <p:cNvPr id="7" name="Shape 5"/>
          <p:cNvSpPr/>
          <p:nvPr/>
        </p:nvSpPr>
        <p:spPr>
          <a:xfrm>
            <a:off x="3794760" y="2542032"/>
            <a:ext cx="1920240" cy="1051560"/>
          </a:xfrm>
          <a:prstGeom prst="roundRect">
            <a:avLst>
              <a:gd name="adj" fmla="val 5217"/>
            </a:avLst>
          </a:prstGeom>
          <a:solidFill>
            <a:srgbClr val="FFFFFF"/>
          </a:solidFill>
          <a:ln w="12700">
            <a:solidFill>
              <a:srgbClr val="DCE0E6"/>
            </a:solidFill>
            <a:prstDash val="solid"/>
          </a:ln>
        </p:spPr>
      </p:sp>
      <p:sp>
        <p:nvSpPr>
          <p:cNvPr id="8" name="Text 6"/>
          <p:cNvSpPr txBox="1"/>
          <p:nvPr/>
        </p:nvSpPr>
        <p:spPr>
          <a:xfrm>
            <a:off x="3794760" y="2697480"/>
            <a:ext cx="1920240" cy="292608"/>
          </a:xfrm>
          <a:prstGeom prst="rect">
            <a:avLst/>
          </a:prstGeom>
          <a:noFill/>
          <a:ln/>
        </p:spPr>
        <p:txBody>
          <a:bodyPr wrap="square" lIns="0" tIns="0" rIns="0" bIns="0" rtlCol="0" anchor="ctr"/>
          <a:lstStyle/>
          <a:p>
            <a:pPr algn="ctr" indent="0" marL="0">
              <a:buNone/>
            </a:pPr>
            <a:r>
              <a:rPr lang="en-US" sz="1400" b="1" dirty="0">
                <a:solidFill>
                  <a:srgbClr val="16191D"/>
                </a:solidFill>
                <a:latin typeface="Arial" pitchFamily="34" charset="0"/>
                <a:ea typeface="Arial" pitchFamily="34" charset="-122"/>
                <a:cs typeface="Arial" pitchFamily="34" charset="-120"/>
              </a:rPr>
              <a:t>a written plan</a:t>
            </a:r>
            <a:endParaRPr lang="en-US" sz="1400" dirty="0"/>
          </a:p>
        </p:txBody>
      </p:sp>
      <p:sp>
        <p:nvSpPr>
          <p:cNvPr id="9" name="Text 7"/>
          <p:cNvSpPr txBox="1"/>
          <p:nvPr/>
        </p:nvSpPr>
        <p:spPr>
          <a:xfrm>
            <a:off x="3794760" y="2999232"/>
            <a:ext cx="1920240" cy="548640"/>
          </a:xfrm>
          <a:prstGeom prst="rect">
            <a:avLst/>
          </a:prstGeom>
          <a:noFill/>
          <a:ln/>
        </p:spPr>
        <p:txBody>
          <a:bodyPr wrap="square" lIns="0" tIns="0" rIns="0" bIns="0" rtlCol="0" anchor="ctr"/>
          <a:lstStyle/>
          <a:p>
            <a:pPr algn="ctr" indent="0" marL="0">
              <a:lnSpc>
                <a:spcPct val="115000"/>
              </a:lnSpc>
              <a:buNone/>
            </a:pPr>
            <a:r>
              <a:rPr lang="en-US" sz="1250" dirty="0">
                <a:solidFill>
                  <a:srgbClr val="6B7280"/>
                </a:solidFill>
                <a:latin typeface="Calibri" pitchFamily="34" charset="0"/>
                <a:ea typeface="Calibri" pitchFamily="34" charset="-122"/>
                <a:cs typeface="Calibri" pitchFamily="34" charset="-120"/>
              </a:rPr>
              <a:t>exact, and saved</a:t>
            </a:r>
            <a:endParaRPr lang="en-US" sz="1250" dirty="0"/>
          </a:p>
          <a:p>
            <a:pPr algn="ctr" indent="0" marL="0">
              <a:lnSpc>
                <a:spcPct val="115000"/>
              </a:lnSpc>
              <a:buNone/>
            </a:pPr>
            <a:r>
              <a:rPr lang="en-US" sz="1250" dirty="0">
                <a:solidFill>
                  <a:srgbClr val="6B7280"/>
                </a:solidFill>
                <a:latin typeface="Calibri" pitchFamily="34" charset="0"/>
                <a:ea typeface="Calibri" pitchFamily="34" charset="-122"/>
                <a:cs typeface="Calibri" pitchFamily="34" charset="-120"/>
              </a:rPr>
              <a:t>to a file</a:t>
            </a:r>
            <a:endParaRPr lang="en-US" sz="1250" dirty="0"/>
          </a:p>
        </p:txBody>
      </p:sp>
      <p:sp>
        <p:nvSpPr>
          <p:cNvPr id="10" name="Shape 8"/>
          <p:cNvSpPr/>
          <p:nvPr/>
        </p:nvSpPr>
        <p:spPr>
          <a:xfrm>
            <a:off x="6400800" y="2331720"/>
            <a:ext cx="2743200" cy="1463040"/>
          </a:xfrm>
          <a:prstGeom prst="roundRect">
            <a:avLst>
              <a:gd name="adj" fmla="val 3750"/>
            </a:avLst>
          </a:prstGeom>
          <a:solidFill>
            <a:srgbClr val="F4F5F7"/>
          </a:solidFill>
          <a:ln w="12700">
            <a:solidFill>
              <a:srgbClr val="DCE0E6"/>
            </a:solidFill>
            <a:prstDash val="solid"/>
          </a:ln>
        </p:spPr>
      </p:sp>
      <p:sp>
        <p:nvSpPr>
          <p:cNvPr id="11" name="Text 9"/>
          <p:cNvSpPr txBox="1"/>
          <p:nvPr/>
        </p:nvSpPr>
        <p:spPr>
          <a:xfrm>
            <a:off x="6400800" y="2514600"/>
            <a:ext cx="2743200" cy="320040"/>
          </a:xfrm>
          <a:prstGeom prst="rect">
            <a:avLst/>
          </a:prstGeom>
          <a:noFill/>
          <a:ln/>
        </p:spPr>
        <p:txBody>
          <a:bodyPr wrap="square" lIns="0" tIns="0" rIns="0" bIns="0" rtlCol="0" anchor="ctr"/>
          <a:lstStyle/>
          <a:p>
            <a:pPr algn="ctr" indent="0" marL="0">
              <a:buNone/>
            </a:pPr>
            <a:r>
              <a:rPr lang="en-US" sz="1600" b="1" dirty="0">
                <a:solidFill>
                  <a:srgbClr val="C1690C"/>
                </a:solidFill>
                <a:latin typeface="Arial" pitchFamily="34" charset="0"/>
                <a:ea typeface="Arial" pitchFamily="34" charset="-122"/>
                <a:cs typeface="Arial" pitchFamily="34" charset="-120"/>
              </a:rPr>
              <a:t>The crew</a:t>
            </a:r>
            <a:endParaRPr lang="en-US" sz="1600" dirty="0"/>
          </a:p>
        </p:txBody>
      </p:sp>
      <p:sp>
        <p:nvSpPr>
          <p:cNvPr id="12" name="Text 10"/>
          <p:cNvSpPr txBox="1"/>
          <p:nvPr/>
        </p:nvSpPr>
        <p:spPr>
          <a:xfrm>
            <a:off x="6400800" y="2852928"/>
            <a:ext cx="2743200" cy="685800"/>
          </a:xfrm>
          <a:prstGeom prst="rect">
            <a:avLst/>
          </a:prstGeom>
          <a:noFill/>
          <a:ln/>
        </p:spPr>
        <p:txBody>
          <a:bodyPr wrap="square" lIns="0" tIns="0" rIns="0" bIns="0" rtlCol="0" anchor="ctr"/>
          <a:lstStyle/>
          <a:p>
            <a:pPr algn="ctr" indent="0" marL="0">
              <a:lnSpc>
                <a:spcPct val="115000"/>
              </a:lnSpc>
              <a:buNone/>
            </a:pPr>
            <a:r>
              <a:rPr lang="en-US" sz="1400" dirty="0">
                <a:solidFill>
                  <a:srgbClr val="16191D"/>
                </a:solidFill>
                <a:latin typeface="Calibri" pitchFamily="34" charset="0"/>
                <a:ea typeface="Calibri" pitchFamily="34" charset="-122"/>
                <a:cs typeface="Calibri" pitchFamily="34" charset="-120"/>
              </a:rPr>
              <a:t>two cheaper models,</a:t>
            </a:r>
            <a:endParaRPr lang="en-US" sz="1400" dirty="0"/>
          </a:p>
          <a:p>
            <a:pPr algn="ctr" indent="0" marL="0">
              <a:lnSpc>
                <a:spcPct val="115000"/>
              </a:lnSpc>
              <a:buNone/>
            </a:pPr>
            <a:r>
              <a:rPr lang="en-US" sz="1400" dirty="0">
                <a:solidFill>
                  <a:srgbClr val="16191D"/>
                </a:solidFill>
                <a:latin typeface="Calibri" pitchFamily="34" charset="0"/>
                <a:ea typeface="Calibri" pitchFamily="34" charset="-122"/>
                <a:cs typeface="Calibri" pitchFamily="34" charset="-120"/>
              </a:rPr>
              <a:t>working unsupervised</a:t>
            </a:r>
            <a:endParaRPr lang="en-US" sz="1400" dirty="0"/>
          </a:p>
        </p:txBody>
      </p:sp>
      <p:sp>
        <p:nvSpPr>
          <p:cNvPr id="13" name="Shape 11"/>
          <p:cNvSpPr/>
          <p:nvPr/>
        </p:nvSpPr>
        <p:spPr>
          <a:xfrm>
            <a:off x="9829800" y="2331720"/>
            <a:ext cx="1721815" cy="1463040"/>
          </a:xfrm>
          <a:prstGeom prst="roundRect">
            <a:avLst>
              <a:gd name="adj" fmla="val 3750"/>
            </a:avLst>
          </a:prstGeom>
          <a:solidFill>
            <a:srgbClr val="16191D"/>
          </a:solidFill>
          <a:ln w="12700">
            <a:solidFill>
              <a:srgbClr val="16191D"/>
            </a:solidFill>
            <a:prstDash val="solid"/>
          </a:ln>
        </p:spPr>
      </p:sp>
      <p:sp>
        <p:nvSpPr>
          <p:cNvPr id="14" name="Text 12"/>
          <p:cNvSpPr txBox="1"/>
          <p:nvPr/>
        </p:nvSpPr>
        <p:spPr>
          <a:xfrm>
            <a:off x="9829800" y="2651760"/>
            <a:ext cx="1721815"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your codebase</a:t>
            </a:r>
            <a:endParaRPr lang="en-US" sz="1500" dirty="0"/>
          </a:p>
        </p:txBody>
      </p:sp>
      <p:sp>
        <p:nvSpPr>
          <p:cNvPr id="15" name="Text 13"/>
          <p:cNvSpPr txBox="1"/>
          <p:nvPr/>
        </p:nvSpPr>
        <p:spPr>
          <a:xfrm>
            <a:off x="9829800" y="3017520"/>
            <a:ext cx="1721815" cy="365760"/>
          </a:xfrm>
          <a:prstGeom prst="rect">
            <a:avLst/>
          </a:prstGeom>
          <a:noFill/>
          <a:ln/>
        </p:spPr>
        <p:txBody>
          <a:bodyPr wrap="square" lIns="0" tIns="0" rIns="0" bIns="0" rtlCol="0" anchor="ctr"/>
          <a:lstStyle/>
          <a:p>
            <a:pPr algn="ctr" indent="0" marL="0">
              <a:buNone/>
            </a:pPr>
            <a:r>
              <a:rPr lang="en-US" sz="1300" dirty="0">
                <a:solidFill>
                  <a:srgbClr val="9BE8CF"/>
                </a:solidFill>
                <a:latin typeface="Calibri" pitchFamily="34" charset="0"/>
                <a:ea typeface="Calibri" pitchFamily="34" charset="-122"/>
                <a:cs typeface="Calibri" pitchFamily="34" charset="-120"/>
              </a:rPr>
              <a:t>changed, for real</a:t>
            </a:r>
            <a:endParaRPr lang="en-US" sz="1300" dirty="0"/>
          </a:p>
        </p:txBody>
      </p:sp>
      <p:sp>
        <p:nvSpPr>
          <p:cNvPr id="16" name="Shape 14"/>
          <p:cNvSpPr/>
          <p:nvPr/>
        </p:nvSpPr>
        <p:spPr>
          <a:xfrm>
            <a:off x="3200400" y="3063240"/>
            <a:ext cx="548640" cy="0"/>
          </a:xfrm>
          <a:prstGeom prst="line">
            <a:avLst/>
          </a:prstGeom>
          <a:noFill/>
          <a:ln w="22225">
            <a:solidFill>
              <a:srgbClr val="6D4AC4"/>
            </a:solidFill>
            <a:prstDash val="solid"/>
            <a:tailEnd type="triangle"/>
          </a:ln>
        </p:spPr>
      </p:sp>
      <p:sp>
        <p:nvSpPr>
          <p:cNvPr id="17" name="Shape 15"/>
          <p:cNvSpPr/>
          <p:nvPr/>
        </p:nvSpPr>
        <p:spPr>
          <a:xfrm>
            <a:off x="5760720" y="3063240"/>
            <a:ext cx="594360" cy="0"/>
          </a:xfrm>
          <a:prstGeom prst="line">
            <a:avLst/>
          </a:prstGeom>
          <a:noFill/>
          <a:ln w="22225">
            <a:solidFill>
              <a:srgbClr val="6B7280"/>
            </a:solidFill>
            <a:prstDash val="solid"/>
            <a:tailEnd type="triangle"/>
          </a:ln>
        </p:spPr>
      </p:sp>
      <p:sp>
        <p:nvSpPr>
          <p:cNvPr id="18" name="Shape 16"/>
          <p:cNvSpPr/>
          <p:nvPr/>
        </p:nvSpPr>
        <p:spPr>
          <a:xfrm>
            <a:off x="9189720" y="3063240"/>
            <a:ext cx="594360" cy="0"/>
          </a:xfrm>
          <a:prstGeom prst="line">
            <a:avLst/>
          </a:prstGeom>
          <a:noFill/>
          <a:ln w="22225">
            <a:solidFill>
              <a:srgbClr val="6B7280"/>
            </a:solidFill>
            <a:prstDash val="solid"/>
            <a:tailEnd type="triangle"/>
          </a:ln>
        </p:spPr>
      </p:sp>
      <p:sp>
        <p:nvSpPr>
          <p:cNvPr id="19" name="Shape 17"/>
          <p:cNvSpPr/>
          <p:nvPr/>
        </p:nvSpPr>
        <p:spPr>
          <a:xfrm>
            <a:off x="10881360" y="3794760"/>
            <a:ext cx="914" cy="777240"/>
          </a:xfrm>
          <a:prstGeom prst="line">
            <a:avLst/>
          </a:prstGeom>
          <a:noFill/>
          <a:ln w="28575">
            <a:solidFill>
              <a:srgbClr val="16191D"/>
            </a:solidFill>
            <a:prstDash val="solid"/>
          </a:ln>
        </p:spPr>
      </p:sp>
      <p:sp>
        <p:nvSpPr>
          <p:cNvPr id="20" name="Shape 18"/>
          <p:cNvSpPr/>
          <p:nvPr/>
        </p:nvSpPr>
        <p:spPr>
          <a:xfrm>
            <a:off x="1874520" y="4572000"/>
            <a:ext cx="9006840" cy="914"/>
          </a:xfrm>
          <a:prstGeom prst="line">
            <a:avLst/>
          </a:prstGeom>
          <a:noFill/>
          <a:ln w="28575">
            <a:solidFill>
              <a:srgbClr val="16191D"/>
            </a:solidFill>
            <a:prstDash val="solid"/>
          </a:ln>
        </p:spPr>
      </p:sp>
      <p:sp>
        <p:nvSpPr>
          <p:cNvPr id="21" name="Shape 19"/>
          <p:cNvSpPr/>
          <p:nvPr/>
        </p:nvSpPr>
        <p:spPr>
          <a:xfrm flipV="1">
            <a:off x="1874520" y="3794760"/>
            <a:ext cx="914" cy="777240"/>
          </a:xfrm>
          <a:prstGeom prst="line">
            <a:avLst/>
          </a:prstGeom>
          <a:noFill/>
          <a:ln w="28575">
            <a:solidFill>
              <a:srgbClr val="16191D"/>
            </a:solidFill>
            <a:prstDash val="solid"/>
            <a:tailEnd type="triangle"/>
          </a:ln>
        </p:spPr>
      </p:sp>
      <p:sp>
        <p:nvSpPr>
          <p:cNvPr id="22" name="Text 20"/>
          <p:cNvSpPr txBox="1"/>
          <p:nvPr/>
        </p:nvSpPr>
        <p:spPr>
          <a:xfrm>
            <a:off x="3657600" y="4114800"/>
            <a:ext cx="5486400" cy="365760"/>
          </a:xfrm>
          <a:prstGeom prst="rect">
            <a:avLst/>
          </a:prstGeom>
          <a:noFill/>
          <a:ln/>
        </p:spPr>
        <p:txBody>
          <a:bodyPr wrap="square" lIns="0" tIns="0" rIns="0" bIns="0" rtlCol="0" anchor="ctr"/>
          <a:lstStyle/>
          <a:p>
            <a:pPr algn="ctr" indent="0" marL="0">
              <a:buNone/>
            </a:pPr>
            <a:r>
              <a:rPr lang="en-US" sz="1450" b="1" dirty="0">
                <a:solidFill>
                  <a:srgbClr val="16191D"/>
                </a:solidFill>
                <a:latin typeface="Calibri" pitchFamily="34" charset="0"/>
                <a:ea typeface="Calibri" pitchFamily="34" charset="-122"/>
                <a:cs typeface="Calibri" pitchFamily="34" charset="-120"/>
              </a:rPr>
              <a:t>and then the expert checks it, personally, every time</a:t>
            </a:r>
            <a:endParaRPr lang="en-US" sz="1450" dirty="0"/>
          </a:p>
        </p:txBody>
      </p:sp>
      <p:sp>
        <p:nvSpPr>
          <p:cNvPr id="23" name="Shape 21"/>
          <p:cNvSpPr/>
          <p:nvPr/>
        </p:nvSpPr>
        <p:spPr>
          <a:xfrm>
            <a:off x="640080" y="5120640"/>
            <a:ext cx="10911535" cy="777240"/>
          </a:xfrm>
          <a:prstGeom prst="roundRect">
            <a:avLst>
              <a:gd name="adj" fmla="val 7059"/>
            </a:avLst>
          </a:prstGeom>
          <a:solidFill>
            <a:srgbClr val="FCF1DF"/>
          </a:solidFill>
          <a:ln w="12700">
            <a:solidFill>
              <a:srgbClr val="EBCFA4"/>
            </a:solidFill>
            <a:prstDash val="solid"/>
          </a:ln>
        </p:spPr>
      </p:sp>
      <p:sp>
        <p:nvSpPr>
          <p:cNvPr id="24" name="Text 22"/>
          <p:cNvSpPr txBox="1"/>
          <p:nvPr/>
        </p:nvSpPr>
        <p:spPr>
          <a:xfrm>
            <a:off x="932688" y="5120640"/>
            <a:ext cx="10326319" cy="777240"/>
          </a:xfrm>
          <a:prstGeom prst="rect">
            <a:avLst/>
          </a:prstGeom>
          <a:noFill/>
          <a:ln/>
        </p:spPr>
        <p:txBody>
          <a:bodyPr wrap="square" lIns="0" tIns="0" rIns="0" bIns="0" rtlCol="0" anchor="ctr"/>
          <a:lstStyle/>
          <a:p>
            <a:pPr indent="0" marL="0">
              <a:lnSpc>
                <a:spcPct val="120000"/>
              </a:lnSpc>
              <a:buNone/>
            </a:pPr>
            <a:r>
              <a:rPr lang="en-US" sz="1500" b="1" dirty="0">
                <a:solidFill>
                  <a:srgbClr val="C1690C"/>
                </a:solidFill>
                <a:latin typeface="Calibri" pitchFamily="34" charset="0"/>
                <a:ea typeface="Calibri" pitchFamily="34" charset="-122"/>
                <a:cs typeface="Calibri" pitchFamily="34" charset="-120"/>
              </a:rPr>
              <a:t>That last arrow is the entire talk. </a:t>
            </a:r>
            <a:pPr indent="0" marL="0">
              <a:lnSpc>
                <a:spcPct val="120000"/>
              </a:lnSpc>
              <a:buNone/>
            </a:pPr>
            <a:r>
              <a:rPr lang="en-US" sz="1500" dirty="0">
                <a:solidFill>
                  <a:srgbClr val="16191D"/>
                </a:solidFill>
                <a:latin typeface="Calibri" pitchFamily="34" charset="0"/>
                <a:ea typeface="Calibri" pitchFamily="34" charset="-122"/>
                <a:cs typeface="Calibri" pitchFamily="34" charset="-120"/>
              </a:rPr>
              <a:t>Handing work out is easy. Knowing whether it actually got done is the part that took me weeks to get right.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algn="l" indent="0" marL="0">
              <a:buNone/>
            </a:pPr>
            <a:r>
              <a:rPr lang="en-US" sz="3800" b="1" spc="-30" kern="0" dirty="0">
                <a:solidFill>
                  <a:srgbClr val="16191D"/>
                </a:solidFill>
                <a:latin typeface="Arial" pitchFamily="34" charset="0"/>
                <a:ea typeface="Arial" pitchFamily="34" charset="-122"/>
                <a:cs typeface="Arial" pitchFamily="34" charset="-120"/>
              </a:rPr>
              <a:t>What actually happens when you press go</a:t>
            </a:r>
            <a:endParaRPr lang="en-US" sz="3800" dirty="0"/>
          </a:p>
        </p:txBody>
      </p:sp>
      <p:sp>
        <p:nvSpPr>
          <p:cNvPr id="3" name="Text 1"/>
          <p:cNvSpPr txBox="1"/>
          <p:nvPr/>
        </p:nvSpPr>
        <p:spPr>
          <a:xfrm>
            <a:off x="640080" y="1234440"/>
            <a:ext cx="10911535" cy="274320"/>
          </a:xfrm>
          <a:prstGeom prst="rect">
            <a:avLst/>
          </a:prstGeom>
          <a:noFill/>
          <a:ln/>
        </p:spPr>
        <p:txBody>
          <a:bodyPr wrap="square" lIns="0" tIns="0" rIns="0" bIns="0" rtlCol="0" anchor="ctr"/>
          <a:lstStyle/>
          <a:p>
            <a:pPr algn="l" indent="0" marL="0">
              <a:buNone/>
            </a:pPr>
            <a:r>
              <a:rPr lang="en-US" sz="1100" b="1" spc="120" kern="0" dirty="0">
                <a:solidFill>
                  <a:srgbClr val="6D4AC4"/>
                </a:solidFill>
                <a:latin typeface="Courier New" pitchFamily="34" charset="0"/>
                <a:ea typeface="Courier New" pitchFamily="34" charset="-122"/>
                <a:cs typeface="Courier New" pitchFamily="34" charset="-120"/>
              </a:rPr>
              <a:t>THE HANDOFF</a:t>
            </a:r>
            <a:endParaRPr lang="en-US" sz="1100" dirty="0"/>
          </a:p>
        </p:txBody>
      </p:sp>
      <p:sp>
        <p:nvSpPr>
          <p:cNvPr id="4" name="Shape 2"/>
          <p:cNvSpPr/>
          <p:nvPr/>
        </p:nvSpPr>
        <p:spPr>
          <a:xfrm>
            <a:off x="640080" y="1691640"/>
            <a:ext cx="2508428" cy="3063240"/>
          </a:xfrm>
          <a:prstGeom prst="roundRect">
            <a:avLst>
              <a:gd name="adj" fmla="val 2187"/>
            </a:avLst>
          </a:prstGeom>
          <a:solidFill>
            <a:srgbClr val="F4F5F7"/>
          </a:solidFill>
          <a:ln w="12700">
            <a:solidFill>
              <a:srgbClr val="DCE0E6"/>
            </a:solidFill>
            <a:prstDash val="solid"/>
          </a:ln>
        </p:spPr>
      </p:sp>
      <p:sp>
        <p:nvSpPr>
          <p:cNvPr id="5" name="Shape 3"/>
          <p:cNvSpPr/>
          <p:nvPr/>
        </p:nvSpPr>
        <p:spPr>
          <a:xfrm>
            <a:off x="896112" y="1920240"/>
            <a:ext cx="420624" cy="420624"/>
          </a:xfrm>
          <a:prstGeom prst="ellipse">
            <a:avLst/>
          </a:prstGeom>
          <a:solidFill>
            <a:srgbClr val="6D4AC4"/>
          </a:solidFill>
          <a:ln/>
        </p:spPr>
      </p:sp>
      <p:sp>
        <p:nvSpPr>
          <p:cNvPr id="6" name="Text 4"/>
          <p:cNvSpPr txBox="1"/>
          <p:nvPr/>
        </p:nvSpPr>
        <p:spPr>
          <a:xfrm>
            <a:off x="896112" y="19202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896112" y="2487168"/>
            <a:ext cx="1996364" cy="731520"/>
          </a:xfrm>
          <a:prstGeom prst="rect">
            <a:avLst/>
          </a:prstGeom>
          <a:noFill/>
          <a:ln/>
        </p:spPr>
        <p:txBody>
          <a:bodyPr wrap="square" lIns="0" tIns="0" rIns="0" bIns="0" rtlCol="0" anchor="t"/>
          <a:lstStyle/>
          <a:p>
            <a:pPr indent="0" marL="0">
              <a:lnSpc>
                <a:spcPct val="112000"/>
              </a:lnSpc>
              <a:buNone/>
            </a:pPr>
            <a:r>
              <a:rPr lang="en-US" sz="1650" b="1" dirty="0">
                <a:solidFill>
                  <a:srgbClr val="16191D"/>
                </a:solidFill>
                <a:latin typeface="Arial" pitchFamily="34" charset="0"/>
                <a:ea typeface="Arial" pitchFamily="34" charset="-122"/>
                <a:cs typeface="Arial" pitchFamily="34" charset="-120"/>
              </a:rPr>
              <a:t>You describe the job</a:t>
            </a:r>
            <a:endParaRPr lang="en-US" sz="1650" dirty="0"/>
          </a:p>
        </p:txBody>
      </p:sp>
      <p:sp>
        <p:nvSpPr>
          <p:cNvPr id="8" name="Text 6"/>
          <p:cNvSpPr txBox="1"/>
          <p:nvPr/>
        </p:nvSpPr>
        <p:spPr>
          <a:xfrm>
            <a:off x="896112" y="3291840"/>
            <a:ext cx="1996364" cy="1325880"/>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Not in a chat box — written into a file, so it can be re-read and reviewed. Every decision already made.</a:t>
            </a:r>
            <a:endParaRPr lang="en-US" sz="1400" dirty="0"/>
          </a:p>
        </p:txBody>
      </p:sp>
      <p:sp>
        <p:nvSpPr>
          <p:cNvPr id="9" name="Shape 7"/>
          <p:cNvSpPr/>
          <p:nvPr/>
        </p:nvSpPr>
        <p:spPr>
          <a:xfrm>
            <a:off x="3441116" y="1691640"/>
            <a:ext cx="2508428" cy="3063240"/>
          </a:xfrm>
          <a:prstGeom prst="roundRect">
            <a:avLst>
              <a:gd name="adj" fmla="val 2187"/>
            </a:avLst>
          </a:prstGeom>
          <a:solidFill>
            <a:srgbClr val="F4F5F7"/>
          </a:solidFill>
          <a:ln w="12700">
            <a:solidFill>
              <a:srgbClr val="DCE0E6"/>
            </a:solidFill>
            <a:prstDash val="solid"/>
          </a:ln>
        </p:spPr>
      </p:sp>
      <p:sp>
        <p:nvSpPr>
          <p:cNvPr id="10" name="Shape 8"/>
          <p:cNvSpPr/>
          <p:nvPr/>
        </p:nvSpPr>
        <p:spPr>
          <a:xfrm>
            <a:off x="3697148" y="1920240"/>
            <a:ext cx="420624" cy="420624"/>
          </a:xfrm>
          <a:prstGeom prst="ellipse">
            <a:avLst/>
          </a:prstGeom>
          <a:solidFill>
            <a:srgbClr val="6D4AC4"/>
          </a:solidFill>
          <a:ln/>
        </p:spPr>
      </p:sp>
      <p:sp>
        <p:nvSpPr>
          <p:cNvPr id="11" name="Text 9"/>
          <p:cNvSpPr txBox="1"/>
          <p:nvPr/>
        </p:nvSpPr>
        <p:spPr>
          <a:xfrm>
            <a:off x="3697148" y="19202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3697148" y="2487168"/>
            <a:ext cx="1996364" cy="731520"/>
          </a:xfrm>
          <a:prstGeom prst="rect">
            <a:avLst/>
          </a:prstGeom>
          <a:noFill/>
          <a:ln/>
        </p:spPr>
        <p:txBody>
          <a:bodyPr wrap="square" lIns="0" tIns="0" rIns="0" bIns="0" rtlCol="0" anchor="t"/>
          <a:lstStyle/>
          <a:p>
            <a:pPr indent="0" marL="0">
              <a:lnSpc>
                <a:spcPct val="112000"/>
              </a:lnSpc>
              <a:buNone/>
            </a:pPr>
            <a:r>
              <a:rPr lang="en-US" sz="1650" b="1" dirty="0">
                <a:solidFill>
                  <a:srgbClr val="16191D"/>
                </a:solidFill>
                <a:latin typeface="Arial" pitchFamily="34" charset="0"/>
                <a:ea typeface="Arial" pitchFamily="34" charset="-122"/>
                <a:cs typeface="Arial" pitchFamily="34" charset="-120"/>
              </a:rPr>
              <a:t>It goes quiet</a:t>
            </a:r>
            <a:endParaRPr lang="en-US" sz="1650" dirty="0"/>
          </a:p>
        </p:txBody>
      </p:sp>
      <p:sp>
        <p:nvSpPr>
          <p:cNvPr id="13" name="Text 11"/>
          <p:cNvSpPr txBox="1"/>
          <p:nvPr/>
        </p:nvSpPr>
        <p:spPr>
          <a:xfrm>
            <a:off x="3697148" y="3291840"/>
            <a:ext cx="1996364" cy="1325880"/>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The helper works alone for up to an hour. No progress bar. Nothing to watch. You cannot interrupt it.</a:t>
            </a:r>
            <a:endParaRPr lang="en-US" sz="1400" dirty="0"/>
          </a:p>
        </p:txBody>
      </p:sp>
      <p:sp>
        <p:nvSpPr>
          <p:cNvPr id="14" name="Shape 12"/>
          <p:cNvSpPr/>
          <p:nvPr/>
        </p:nvSpPr>
        <p:spPr>
          <a:xfrm>
            <a:off x="6242152" y="1691640"/>
            <a:ext cx="2508428" cy="3063240"/>
          </a:xfrm>
          <a:prstGeom prst="roundRect">
            <a:avLst>
              <a:gd name="adj" fmla="val 2187"/>
            </a:avLst>
          </a:prstGeom>
          <a:solidFill>
            <a:srgbClr val="F4F5F7"/>
          </a:solidFill>
          <a:ln w="12700">
            <a:solidFill>
              <a:srgbClr val="DCE0E6"/>
            </a:solidFill>
            <a:prstDash val="solid"/>
          </a:ln>
        </p:spPr>
      </p:sp>
      <p:sp>
        <p:nvSpPr>
          <p:cNvPr id="15" name="Shape 13"/>
          <p:cNvSpPr/>
          <p:nvPr/>
        </p:nvSpPr>
        <p:spPr>
          <a:xfrm>
            <a:off x="6498184" y="1920240"/>
            <a:ext cx="420624" cy="420624"/>
          </a:xfrm>
          <a:prstGeom prst="ellipse">
            <a:avLst/>
          </a:prstGeom>
          <a:solidFill>
            <a:srgbClr val="6D4AC4"/>
          </a:solidFill>
          <a:ln/>
        </p:spPr>
      </p:sp>
      <p:sp>
        <p:nvSpPr>
          <p:cNvPr id="16" name="Text 14"/>
          <p:cNvSpPr txBox="1"/>
          <p:nvPr/>
        </p:nvSpPr>
        <p:spPr>
          <a:xfrm>
            <a:off x="6498184" y="19202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6498184" y="2487168"/>
            <a:ext cx="1996364" cy="731520"/>
          </a:xfrm>
          <a:prstGeom prst="rect">
            <a:avLst/>
          </a:prstGeom>
          <a:noFill/>
          <a:ln/>
        </p:spPr>
        <p:txBody>
          <a:bodyPr wrap="square" lIns="0" tIns="0" rIns="0" bIns="0" rtlCol="0" anchor="t"/>
          <a:lstStyle/>
          <a:p>
            <a:pPr indent="0" marL="0">
              <a:lnSpc>
                <a:spcPct val="112000"/>
              </a:lnSpc>
              <a:buNone/>
            </a:pPr>
            <a:r>
              <a:rPr lang="en-US" sz="1650" b="1" dirty="0">
                <a:solidFill>
                  <a:srgbClr val="16191D"/>
                </a:solidFill>
                <a:latin typeface="Arial" pitchFamily="34" charset="0"/>
                <a:ea typeface="Arial" pitchFamily="34" charset="-122"/>
                <a:cs typeface="Arial" pitchFamily="34" charset="-120"/>
              </a:rPr>
              <a:t>It writes as it goes</a:t>
            </a:r>
            <a:endParaRPr lang="en-US" sz="1650" dirty="0"/>
          </a:p>
        </p:txBody>
      </p:sp>
      <p:sp>
        <p:nvSpPr>
          <p:cNvPr id="18" name="Text 16"/>
          <p:cNvSpPr txBox="1"/>
          <p:nvPr/>
        </p:nvSpPr>
        <p:spPr>
          <a:xfrm>
            <a:off x="6498184" y="3291840"/>
            <a:ext cx="1996364" cy="1325880"/>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So we make it keep a running log on disk. That is the only way to see inside a job in progress.</a:t>
            </a:r>
            <a:endParaRPr lang="en-US" sz="1400" dirty="0"/>
          </a:p>
        </p:txBody>
      </p:sp>
      <p:sp>
        <p:nvSpPr>
          <p:cNvPr id="19" name="Shape 17"/>
          <p:cNvSpPr/>
          <p:nvPr/>
        </p:nvSpPr>
        <p:spPr>
          <a:xfrm>
            <a:off x="9043187" y="1691640"/>
            <a:ext cx="2508428" cy="3063240"/>
          </a:xfrm>
          <a:prstGeom prst="roundRect">
            <a:avLst>
              <a:gd name="adj" fmla="val 2187"/>
            </a:avLst>
          </a:prstGeom>
          <a:solidFill>
            <a:srgbClr val="E4F2ED"/>
          </a:solidFill>
          <a:ln w="12700">
            <a:solidFill>
              <a:srgbClr val="A9D6C7"/>
            </a:solidFill>
            <a:prstDash val="solid"/>
          </a:ln>
        </p:spPr>
      </p:sp>
      <p:sp>
        <p:nvSpPr>
          <p:cNvPr id="20" name="Shape 18"/>
          <p:cNvSpPr/>
          <p:nvPr/>
        </p:nvSpPr>
        <p:spPr>
          <a:xfrm>
            <a:off x="9299219" y="1920240"/>
            <a:ext cx="420624" cy="420624"/>
          </a:xfrm>
          <a:prstGeom prst="ellipse">
            <a:avLst/>
          </a:prstGeom>
          <a:solidFill>
            <a:srgbClr val="17795E"/>
          </a:solidFill>
          <a:ln/>
        </p:spPr>
      </p:sp>
      <p:sp>
        <p:nvSpPr>
          <p:cNvPr id="21" name="Text 19"/>
          <p:cNvSpPr txBox="1"/>
          <p:nvPr/>
        </p:nvSpPr>
        <p:spPr>
          <a:xfrm>
            <a:off x="9299219" y="19202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txBox="1"/>
          <p:nvPr/>
        </p:nvSpPr>
        <p:spPr>
          <a:xfrm>
            <a:off x="9299219" y="2487168"/>
            <a:ext cx="1996364" cy="731520"/>
          </a:xfrm>
          <a:prstGeom prst="rect">
            <a:avLst/>
          </a:prstGeom>
          <a:noFill/>
          <a:ln/>
        </p:spPr>
        <p:txBody>
          <a:bodyPr wrap="square" lIns="0" tIns="0" rIns="0" bIns="0" rtlCol="0" anchor="t"/>
          <a:lstStyle/>
          <a:p>
            <a:pPr indent="0" marL="0">
              <a:lnSpc>
                <a:spcPct val="112000"/>
              </a:lnSpc>
              <a:buNone/>
            </a:pPr>
            <a:r>
              <a:rPr lang="en-US" sz="1650" b="1" dirty="0">
                <a:solidFill>
                  <a:srgbClr val="16191D"/>
                </a:solidFill>
                <a:latin typeface="Arial" pitchFamily="34" charset="0"/>
                <a:ea typeface="Arial" pitchFamily="34" charset="-122"/>
                <a:cs typeface="Arial" pitchFamily="34" charset="-120"/>
              </a:rPr>
              <a:t>You check the result</a:t>
            </a:r>
            <a:endParaRPr lang="en-US" sz="1650" dirty="0"/>
          </a:p>
        </p:txBody>
      </p:sp>
      <p:sp>
        <p:nvSpPr>
          <p:cNvPr id="23" name="Text 21"/>
          <p:cNvSpPr txBox="1"/>
          <p:nvPr/>
        </p:nvSpPr>
        <p:spPr>
          <a:xfrm>
            <a:off x="9299219" y="3291840"/>
            <a:ext cx="1996364" cy="1325880"/>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Not by reading its summary. By looking at what changed and re-running the tests yourself.</a:t>
            </a:r>
            <a:endParaRPr lang="en-US" sz="1400" dirty="0"/>
          </a:p>
        </p:txBody>
      </p:sp>
      <p:sp>
        <p:nvSpPr>
          <p:cNvPr id="24" name="Shape 22"/>
          <p:cNvSpPr/>
          <p:nvPr/>
        </p:nvSpPr>
        <p:spPr>
          <a:xfrm>
            <a:off x="640080" y="5029200"/>
            <a:ext cx="10911535" cy="868680"/>
          </a:xfrm>
          <a:prstGeom prst="roundRect">
            <a:avLst>
              <a:gd name="adj" fmla="val 6316"/>
            </a:avLst>
          </a:prstGeom>
          <a:solidFill>
            <a:srgbClr val="FCF1DF"/>
          </a:solidFill>
          <a:ln w="12700">
            <a:solidFill>
              <a:srgbClr val="EBCFA4"/>
            </a:solidFill>
            <a:prstDash val="solid"/>
          </a:ln>
        </p:spPr>
      </p:sp>
      <p:sp>
        <p:nvSpPr>
          <p:cNvPr id="25" name="Text 23"/>
          <p:cNvSpPr txBox="1"/>
          <p:nvPr/>
        </p:nvSpPr>
        <p:spPr>
          <a:xfrm>
            <a:off x="932688" y="5029200"/>
            <a:ext cx="10326319" cy="868680"/>
          </a:xfrm>
          <a:prstGeom prst="rect">
            <a:avLst/>
          </a:prstGeom>
          <a:noFill/>
          <a:ln/>
        </p:spPr>
        <p:txBody>
          <a:bodyPr wrap="square" lIns="0" tIns="0" rIns="0" bIns="0" rtlCol="0" anchor="ctr"/>
          <a:lstStyle/>
          <a:p>
            <a:pPr indent="0" marL="0">
              <a:lnSpc>
                <a:spcPct val="120000"/>
              </a:lnSpc>
              <a:buNone/>
            </a:pPr>
            <a:r>
              <a:rPr lang="en-US" sz="1500" b="1" dirty="0">
                <a:solidFill>
                  <a:srgbClr val="C1690C"/>
                </a:solidFill>
                <a:latin typeface="Calibri" pitchFamily="34" charset="0"/>
                <a:ea typeface="Calibri" pitchFamily="34" charset="-122"/>
                <a:cs typeface="Calibri" pitchFamily="34" charset="-120"/>
              </a:rPr>
              <a:t>Step 2 is the uncomfortable one. </a:t>
            </a:r>
            <a:pPr indent="0" marL="0">
              <a:lnSpc>
                <a:spcPct val="120000"/>
              </a:lnSpc>
              <a:buNone/>
            </a:pPr>
            <a:r>
              <a:rPr lang="en-US" sz="1500" dirty="0">
                <a:solidFill>
                  <a:srgbClr val="16191D"/>
                </a:solidFill>
                <a:latin typeface="Calibri" pitchFamily="34" charset="0"/>
                <a:ea typeface="Calibri" pitchFamily="34" charset="-122"/>
                <a:cs typeface="Calibri" pitchFamily="34" charset="-120"/>
              </a:rPr>
              <a:t>For an hour, a program you cannot see is editing your project and approving its own changes. Calling the tool is the moment you agree to that.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algn="l" indent="0" marL="0">
              <a:buNone/>
            </a:pPr>
            <a:r>
              <a:rPr lang="en-US" sz="3800" b="1" spc="-30" kern="0" dirty="0">
                <a:solidFill>
                  <a:srgbClr val="16191D"/>
                </a:solidFill>
                <a:latin typeface="Arial" pitchFamily="34" charset="0"/>
                <a:ea typeface="Arial" pitchFamily="34" charset="-122"/>
                <a:cs typeface="Arial" pitchFamily="34" charset="-120"/>
              </a:rPr>
              <a:t>It will tell you it worked. Believe nothing.</a:t>
            </a:r>
            <a:endParaRPr lang="en-US" sz="3800" dirty="0"/>
          </a:p>
        </p:txBody>
      </p:sp>
      <p:sp>
        <p:nvSpPr>
          <p:cNvPr id="3" name="Text 1"/>
          <p:cNvSpPr txBox="1"/>
          <p:nvPr/>
        </p:nvSpPr>
        <p:spPr>
          <a:xfrm>
            <a:off x="640080" y="1234440"/>
            <a:ext cx="10911535" cy="274320"/>
          </a:xfrm>
          <a:prstGeom prst="rect">
            <a:avLst/>
          </a:prstGeom>
          <a:noFill/>
          <a:ln/>
        </p:spPr>
        <p:txBody>
          <a:bodyPr wrap="square" lIns="0" tIns="0" rIns="0" bIns="0" rtlCol="0" anchor="ctr"/>
          <a:lstStyle/>
          <a:p>
            <a:pPr algn="l" indent="0" marL="0">
              <a:buNone/>
            </a:pPr>
            <a:r>
              <a:rPr lang="en-US" sz="1100" b="1" spc="120" kern="0" dirty="0">
                <a:solidFill>
                  <a:srgbClr val="6D4AC4"/>
                </a:solidFill>
                <a:latin typeface="Courier New" pitchFamily="34" charset="0"/>
                <a:ea typeface="Courier New" pitchFamily="34" charset="-122"/>
                <a:cs typeface="Courier New" pitchFamily="34" charset="-120"/>
              </a:rPr>
              <a:t>THE EXPENSIVE LESSON</a:t>
            </a:r>
            <a:endParaRPr lang="en-US" sz="1100" dirty="0"/>
          </a:p>
        </p:txBody>
      </p:sp>
      <p:sp>
        <p:nvSpPr>
          <p:cNvPr id="4" name="Shape 2"/>
          <p:cNvSpPr/>
          <p:nvPr/>
        </p:nvSpPr>
        <p:spPr>
          <a:xfrm>
            <a:off x="640080" y="1691640"/>
            <a:ext cx="3393338" cy="3017520"/>
          </a:xfrm>
          <a:prstGeom prst="roundRect">
            <a:avLst>
              <a:gd name="adj" fmla="val 1818"/>
            </a:avLst>
          </a:prstGeom>
          <a:solidFill>
            <a:srgbClr val="F4F5F7"/>
          </a:solidFill>
          <a:ln w="12700">
            <a:solidFill>
              <a:srgbClr val="DCE0E6"/>
            </a:solidFill>
            <a:prstDash val="solid"/>
          </a:ln>
        </p:spPr>
      </p:sp>
      <p:sp>
        <p:nvSpPr>
          <p:cNvPr id="5" name="Text 3"/>
          <p:cNvSpPr txBox="1"/>
          <p:nvPr/>
        </p:nvSpPr>
        <p:spPr>
          <a:xfrm>
            <a:off x="914400" y="1874520"/>
            <a:ext cx="2844698" cy="274320"/>
          </a:xfrm>
          <a:prstGeom prst="rect">
            <a:avLst/>
          </a:prstGeom>
          <a:noFill/>
          <a:ln/>
        </p:spPr>
        <p:txBody>
          <a:bodyPr wrap="square" lIns="0" tIns="0" rIns="0" bIns="0" rtlCol="0" anchor="ctr"/>
          <a:lstStyle/>
          <a:p>
            <a:pPr indent="0" marL="0">
              <a:buNone/>
            </a:pPr>
            <a:r>
              <a:rPr lang="en-US" sz="1050" b="1" spc="100" kern="0" dirty="0">
                <a:solidFill>
                  <a:srgbClr val="C1690C"/>
                </a:solidFill>
                <a:latin typeface="Courier New" pitchFamily="34" charset="0"/>
                <a:ea typeface="Courier New" pitchFamily="34" charset="-122"/>
                <a:cs typeface="Courier New" pitchFamily="34" charset="-120"/>
              </a:rPr>
              <a:t>IT SAID IT WORKED</a:t>
            </a:r>
            <a:endParaRPr lang="en-US" sz="1050" dirty="0"/>
          </a:p>
        </p:txBody>
      </p:sp>
      <p:sp>
        <p:nvSpPr>
          <p:cNvPr id="6" name="Text 4"/>
          <p:cNvSpPr txBox="1"/>
          <p:nvPr/>
        </p:nvSpPr>
        <p:spPr>
          <a:xfrm>
            <a:off x="914400" y="2212848"/>
            <a:ext cx="2844698" cy="685800"/>
          </a:xfrm>
          <a:prstGeom prst="rect">
            <a:avLst/>
          </a:prstGeom>
          <a:noFill/>
          <a:ln/>
        </p:spPr>
        <p:txBody>
          <a:bodyPr wrap="square" lIns="0" tIns="0" rIns="0" bIns="0" rtlCol="0" anchor="t"/>
          <a:lstStyle/>
          <a:p>
            <a:pPr indent="0" marL="0">
              <a:lnSpc>
                <a:spcPct val="110000"/>
              </a:lnSpc>
              <a:buNone/>
            </a:pPr>
            <a:r>
              <a:rPr lang="en-US" sz="1800" b="1" dirty="0">
                <a:solidFill>
                  <a:srgbClr val="16191D"/>
                </a:solidFill>
                <a:latin typeface="Arial" pitchFamily="34" charset="0"/>
                <a:ea typeface="Arial" pitchFamily="34" charset="-122"/>
                <a:cs typeface="Arial" pitchFamily="34" charset="-120"/>
              </a:rPr>
              <a:t>Nothing had happened.</a:t>
            </a:r>
            <a:endParaRPr lang="en-US" sz="1800" dirty="0"/>
          </a:p>
        </p:txBody>
      </p:sp>
      <p:sp>
        <p:nvSpPr>
          <p:cNvPr id="7" name="Text 5"/>
          <p:cNvSpPr txBox="1"/>
          <p:nvPr/>
        </p:nvSpPr>
        <p:spPr>
          <a:xfrm>
            <a:off x="914400" y="2971800"/>
            <a:ext cx="2844698" cy="1600200"/>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A clean, cheerful report. The files had been written to a scratch folder nobody looks at. The report was honest — it really had written them. Just not where I lived.</a:t>
            </a:r>
            <a:endParaRPr lang="en-US" sz="1400" dirty="0"/>
          </a:p>
        </p:txBody>
      </p:sp>
      <p:sp>
        <p:nvSpPr>
          <p:cNvPr id="8" name="Shape 6"/>
          <p:cNvSpPr/>
          <p:nvPr/>
        </p:nvSpPr>
        <p:spPr>
          <a:xfrm>
            <a:off x="4399178" y="1691640"/>
            <a:ext cx="3393338" cy="3017520"/>
          </a:xfrm>
          <a:prstGeom prst="roundRect">
            <a:avLst>
              <a:gd name="adj" fmla="val 1818"/>
            </a:avLst>
          </a:prstGeom>
          <a:solidFill>
            <a:srgbClr val="F4F5F7"/>
          </a:solidFill>
          <a:ln w="12700">
            <a:solidFill>
              <a:srgbClr val="DCE0E6"/>
            </a:solidFill>
            <a:prstDash val="solid"/>
          </a:ln>
        </p:spPr>
      </p:sp>
      <p:sp>
        <p:nvSpPr>
          <p:cNvPr id="9" name="Text 7"/>
          <p:cNvSpPr txBox="1"/>
          <p:nvPr/>
        </p:nvSpPr>
        <p:spPr>
          <a:xfrm>
            <a:off x="4673498" y="1874520"/>
            <a:ext cx="2844698" cy="274320"/>
          </a:xfrm>
          <a:prstGeom prst="rect">
            <a:avLst/>
          </a:prstGeom>
          <a:noFill/>
          <a:ln/>
        </p:spPr>
        <p:txBody>
          <a:bodyPr wrap="square" lIns="0" tIns="0" rIns="0" bIns="0" rtlCol="0" anchor="ctr"/>
          <a:lstStyle/>
          <a:p>
            <a:pPr indent="0" marL="0">
              <a:buNone/>
            </a:pPr>
            <a:r>
              <a:rPr lang="en-US" sz="1050" b="1" spc="100" kern="0" dirty="0">
                <a:solidFill>
                  <a:srgbClr val="C1690C"/>
                </a:solidFill>
                <a:latin typeface="Courier New" pitchFamily="34" charset="0"/>
                <a:ea typeface="Courier New" pitchFamily="34" charset="-122"/>
                <a:cs typeface="Courier New" pitchFamily="34" charset="-120"/>
              </a:rPr>
              <a:t>IT SAID IT FAILED</a:t>
            </a:r>
            <a:endParaRPr lang="en-US" sz="1050" dirty="0"/>
          </a:p>
        </p:txBody>
      </p:sp>
      <p:sp>
        <p:nvSpPr>
          <p:cNvPr id="10" name="Text 8"/>
          <p:cNvSpPr txBox="1"/>
          <p:nvPr/>
        </p:nvSpPr>
        <p:spPr>
          <a:xfrm>
            <a:off x="4673498" y="2212848"/>
            <a:ext cx="2844698" cy="685800"/>
          </a:xfrm>
          <a:prstGeom prst="rect">
            <a:avLst/>
          </a:prstGeom>
          <a:noFill/>
          <a:ln/>
        </p:spPr>
        <p:txBody>
          <a:bodyPr wrap="square" lIns="0" tIns="0" rIns="0" bIns="0" rtlCol="0" anchor="t"/>
          <a:lstStyle/>
          <a:p>
            <a:pPr indent="0" marL="0">
              <a:lnSpc>
                <a:spcPct val="110000"/>
              </a:lnSpc>
              <a:buNone/>
            </a:pPr>
            <a:r>
              <a:rPr lang="en-US" sz="1800" b="1" dirty="0">
                <a:solidFill>
                  <a:srgbClr val="16191D"/>
                </a:solidFill>
                <a:latin typeface="Arial" pitchFamily="34" charset="0"/>
                <a:ea typeface="Arial" pitchFamily="34" charset="-122"/>
                <a:cs typeface="Arial" pitchFamily="34" charset="-120"/>
              </a:rPr>
              <a:t>The work was already done.</a:t>
            </a:r>
            <a:endParaRPr lang="en-US" sz="1800" dirty="0"/>
          </a:p>
        </p:txBody>
      </p:sp>
      <p:sp>
        <p:nvSpPr>
          <p:cNvPr id="11" name="Text 9"/>
          <p:cNvSpPr txBox="1"/>
          <p:nvPr/>
        </p:nvSpPr>
        <p:spPr>
          <a:xfrm>
            <a:off x="4673498" y="2971800"/>
            <a:ext cx="2844698" cy="1600200"/>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An error message and “it didn't implement anything.” In fact seven real, correct changes were sitting there, tests passing. It had finished, then run out of patience waiting to tell me.</a:t>
            </a:r>
            <a:endParaRPr lang="en-US" sz="1400" dirty="0"/>
          </a:p>
        </p:txBody>
      </p:sp>
      <p:sp>
        <p:nvSpPr>
          <p:cNvPr id="12" name="Shape 10"/>
          <p:cNvSpPr/>
          <p:nvPr/>
        </p:nvSpPr>
        <p:spPr>
          <a:xfrm>
            <a:off x="8158277" y="1691640"/>
            <a:ext cx="3393338" cy="3017520"/>
          </a:xfrm>
          <a:prstGeom prst="roundRect">
            <a:avLst>
              <a:gd name="adj" fmla="val 1818"/>
            </a:avLst>
          </a:prstGeom>
          <a:solidFill>
            <a:srgbClr val="F4F5F7"/>
          </a:solidFill>
          <a:ln w="12700">
            <a:solidFill>
              <a:srgbClr val="DCE0E6"/>
            </a:solidFill>
            <a:prstDash val="solid"/>
          </a:ln>
        </p:spPr>
      </p:sp>
      <p:sp>
        <p:nvSpPr>
          <p:cNvPr id="13" name="Text 11"/>
          <p:cNvSpPr txBox="1"/>
          <p:nvPr/>
        </p:nvSpPr>
        <p:spPr>
          <a:xfrm>
            <a:off x="8432597" y="1874520"/>
            <a:ext cx="2844698" cy="274320"/>
          </a:xfrm>
          <a:prstGeom prst="rect">
            <a:avLst/>
          </a:prstGeom>
          <a:noFill/>
          <a:ln/>
        </p:spPr>
        <p:txBody>
          <a:bodyPr wrap="square" lIns="0" tIns="0" rIns="0" bIns="0" rtlCol="0" anchor="ctr"/>
          <a:lstStyle/>
          <a:p>
            <a:pPr indent="0" marL="0">
              <a:buNone/>
            </a:pPr>
            <a:r>
              <a:rPr lang="en-US" sz="1050" b="1" spc="100" kern="0" dirty="0">
                <a:solidFill>
                  <a:srgbClr val="C1690C"/>
                </a:solidFill>
                <a:latin typeface="Courier New" pitchFamily="34" charset="0"/>
                <a:ea typeface="Courier New" pitchFamily="34" charset="-122"/>
                <a:cs typeface="Courier New" pitchFamily="34" charset="-120"/>
              </a:rPr>
              <a:t>IT SAID NOTHING</a:t>
            </a:r>
            <a:endParaRPr lang="en-US" sz="1050" dirty="0"/>
          </a:p>
        </p:txBody>
      </p:sp>
      <p:sp>
        <p:nvSpPr>
          <p:cNvPr id="14" name="Text 12"/>
          <p:cNvSpPr txBox="1"/>
          <p:nvPr/>
        </p:nvSpPr>
        <p:spPr>
          <a:xfrm>
            <a:off x="8432597" y="2212848"/>
            <a:ext cx="2844698" cy="685800"/>
          </a:xfrm>
          <a:prstGeom prst="rect">
            <a:avLst/>
          </a:prstGeom>
          <a:noFill/>
          <a:ln/>
        </p:spPr>
        <p:txBody>
          <a:bodyPr wrap="square" lIns="0" tIns="0" rIns="0" bIns="0" rtlCol="0" anchor="t"/>
          <a:lstStyle/>
          <a:p>
            <a:pPr indent="0" marL="0">
              <a:lnSpc>
                <a:spcPct val="110000"/>
              </a:lnSpc>
              <a:buNone/>
            </a:pPr>
            <a:r>
              <a:rPr lang="en-US" sz="1800" b="1" dirty="0">
                <a:solidFill>
                  <a:srgbClr val="16191D"/>
                </a:solidFill>
                <a:latin typeface="Arial" pitchFamily="34" charset="0"/>
                <a:ea typeface="Arial" pitchFamily="34" charset="-122"/>
                <a:cs typeface="Arial" pitchFamily="34" charset="-120"/>
              </a:rPr>
              <a:t>And it was still going.</a:t>
            </a:r>
            <a:endParaRPr lang="en-US" sz="1800" dirty="0"/>
          </a:p>
        </p:txBody>
      </p:sp>
      <p:sp>
        <p:nvSpPr>
          <p:cNvPr id="15" name="Text 13"/>
          <p:cNvSpPr txBox="1"/>
          <p:nvPr/>
        </p:nvSpPr>
        <p:spPr>
          <a:xfrm>
            <a:off x="8432597" y="2971800"/>
            <a:ext cx="2844698" cy="1600200"/>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The connection dropped. That looks identical whether the helper died or is still happily working. It was still working. Starting it again would have doubled the mess.</a:t>
            </a:r>
            <a:endParaRPr lang="en-US" sz="1400" dirty="0"/>
          </a:p>
        </p:txBody>
      </p:sp>
      <p:sp>
        <p:nvSpPr>
          <p:cNvPr id="16" name="Shape 14"/>
          <p:cNvSpPr/>
          <p:nvPr/>
        </p:nvSpPr>
        <p:spPr>
          <a:xfrm>
            <a:off x="640080" y="5029200"/>
            <a:ext cx="10911535" cy="777240"/>
          </a:xfrm>
          <a:prstGeom prst="roundRect">
            <a:avLst>
              <a:gd name="adj" fmla="val 7059"/>
            </a:avLst>
          </a:prstGeom>
          <a:solidFill>
            <a:srgbClr val="FCF1DF"/>
          </a:solidFill>
          <a:ln w="12700">
            <a:solidFill>
              <a:srgbClr val="EBCFA4"/>
            </a:solidFill>
            <a:prstDash val="solid"/>
          </a:ln>
        </p:spPr>
      </p:sp>
      <p:sp>
        <p:nvSpPr>
          <p:cNvPr id="17" name="Text 15"/>
          <p:cNvSpPr txBox="1"/>
          <p:nvPr/>
        </p:nvSpPr>
        <p:spPr>
          <a:xfrm>
            <a:off x="932688" y="5029200"/>
            <a:ext cx="10326319" cy="777240"/>
          </a:xfrm>
          <a:prstGeom prst="rect">
            <a:avLst/>
          </a:prstGeom>
          <a:noFill/>
          <a:ln/>
        </p:spPr>
        <p:txBody>
          <a:bodyPr wrap="square" lIns="0" tIns="0" rIns="0" bIns="0" rtlCol="0" anchor="ctr"/>
          <a:lstStyle/>
          <a:p>
            <a:pPr indent="0" marL="0">
              <a:lnSpc>
                <a:spcPct val="120000"/>
              </a:lnSpc>
              <a:buNone/>
            </a:pPr>
            <a:r>
              <a:rPr lang="en-US" sz="1500" dirty="0">
                <a:solidFill>
                  <a:srgbClr val="16191D"/>
                </a:solidFill>
                <a:latin typeface="Calibri" pitchFamily="34" charset="0"/>
                <a:ea typeface="Calibri" pitchFamily="34" charset="-122"/>
                <a:cs typeface="Calibri" pitchFamily="34" charset="-120"/>
              </a:rPr>
              <a:t>The rule that came out of it: </a:t>
            </a:r>
            <a:pPr indent="0" marL="0">
              <a:lnSpc>
                <a:spcPct val="120000"/>
              </a:lnSpc>
              <a:buNone/>
            </a:pPr>
            <a:r>
              <a:rPr lang="en-US" sz="1500" b="1" dirty="0">
                <a:solidFill>
                  <a:srgbClr val="C1690C"/>
                </a:solidFill>
                <a:latin typeface="Calibri" pitchFamily="34" charset="0"/>
                <a:ea typeface="Calibri" pitchFamily="34" charset="-122"/>
                <a:cs typeface="Calibri" pitchFamily="34" charset="-120"/>
              </a:rPr>
              <a:t>the report is a rumour. Go look at the work.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algn="l" indent="0" marL="0">
              <a:buNone/>
            </a:pPr>
            <a:r>
              <a:rPr lang="en-US" sz="3800" b="1" spc="-30" kern="0" dirty="0">
                <a:solidFill>
                  <a:srgbClr val="16191D"/>
                </a:solidFill>
                <a:latin typeface="Arial" pitchFamily="34" charset="0"/>
                <a:ea typeface="Arial" pitchFamily="34" charset="-122"/>
                <a:cs typeface="Arial" pitchFamily="34" charset="-120"/>
              </a:rPr>
              <a:t>“All 635 tests passed”</a:t>
            </a:r>
            <a:endParaRPr lang="en-US" sz="3800" dirty="0"/>
          </a:p>
        </p:txBody>
      </p:sp>
      <p:sp>
        <p:nvSpPr>
          <p:cNvPr id="3" name="Text 1"/>
          <p:cNvSpPr txBox="1"/>
          <p:nvPr/>
        </p:nvSpPr>
        <p:spPr>
          <a:xfrm>
            <a:off x="640080" y="1234440"/>
            <a:ext cx="10911535" cy="274320"/>
          </a:xfrm>
          <a:prstGeom prst="rect">
            <a:avLst/>
          </a:prstGeom>
          <a:noFill/>
          <a:ln/>
        </p:spPr>
        <p:txBody>
          <a:bodyPr wrap="square" lIns="0" tIns="0" rIns="0" bIns="0" rtlCol="0" anchor="ctr"/>
          <a:lstStyle/>
          <a:p>
            <a:pPr algn="l" indent="0" marL="0">
              <a:buNone/>
            </a:pPr>
            <a:r>
              <a:rPr lang="en-US" sz="1100" b="1" spc="120" kern="0" dirty="0">
                <a:solidFill>
                  <a:srgbClr val="6D4AC4"/>
                </a:solidFill>
                <a:latin typeface="Courier New" pitchFamily="34" charset="0"/>
                <a:ea typeface="Courier New" pitchFamily="34" charset="-122"/>
                <a:cs typeface="Courier New" pitchFamily="34" charset="-120"/>
              </a:rPr>
              <a:t>THE MOST EXPENSIVE HABIT TO BREAK</a:t>
            </a:r>
            <a:endParaRPr lang="en-US" sz="1100" dirty="0"/>
          </a:p>
        </p:txBody>
      </p:sp>
      <p:sp>
        <p:nvSpPr>
          <p:cNvPr id="4" name="Shape 2"/>
          <p:cNvSpPr/>
          <p:nvPr/>
        </p:nvSpPr>
        <p:spPr>
          <a:xfrm>
            <a:off x="640080" y="1691640"/>
            <a:ext cx="5577840" cy="1874520"/>
          </a:xfrm>
          <a:prstGeom prst="roundRect">
            <a:avLst>
              <a:gd name="adj" fmla="val 2927"/>
            </a:avLst>
          </a:prstGeom>
          <a:solidFill>
            <a:srgbClr val="F4F5F7"/>
          </a:solidFill>
          <a:ln w="12700">
            <a:solidFill>
              <a:srgbClr val="DCE0E6"/>
            </a:solidFill>
            <a:prstDash val="solid"/>
          </a:ln>
        </p:spPr>
      </p:sp>
      <p:sp>
        <p:nvSpPr>
          <p:cNvPr id="5" name="Text 3"/>
          <p:cNvSpPr txBox="1"/>
          <p:nvPr/>
        </p:nvSpPr>
        <p:spPr>
          <a:xfrm>
            <a:off x="914400" y="1874520"/>
            <a:ext cx="5029200" cy="320040"/>
          </a:xfrm>
          <a:prstGeom prst="rect">
            <a:avLst/>
          </a:prstGeom>
          <a:noFill/>
          <a:ln/>
        </p:spPr>
        <p:txBody>
          <a:bodyPr wrap="square" lIns="0" tIns="0" rIns="0" bIns="0" rtlCol="0" anchor="ctr"/>
          <a:lstStyle/>
          <a:p>
            <a:pPr indent="0" marL="0">
              <a:buNone/>
            </a:pPr>
            <a:r>
              <a:rPr lang="en-US" sz="1700" b="1" dirty="0">
                <a:solidFill>
                  <a:srgbClr val="16191D"/>
                </a:solidFill>
                <a:latin typeface="Arial" pitchFamily="34" charset="0"/>
                <a:ea typeface="Arial" pitchFamily="34" charset="-122"/>
                <a:cs typeface="Arial" pitchFamily="34" charset="-120"/>
              </a:rPr>
              <a:t>What that sentence proves</a:t>
            </a:r>
            <a:endParaRPr lang="en-US" sz="1700" dirty="0"/>
          </a:p>
        </p:txBody>
      </p:sp>
      <p:sp>
        <p:nvSpPr>
          <p:cNvPr id="6" name="Text 4"/>
          <p:cNvSpPr txBox="1"/>
          <p:nvPr/>
        </p:nvSpPr>
        <p:spPr>
          <a:xfrm>
            <a:off x="914400" y="2240280"/>
            <a:ext cx="5029200" cy="1234440"/>
          </a:xfrm>
          <a:prstGeom prst="rect">
            <a:avLst/>
          </a:prstGeom>
          <a:noFill/>
          <a:ln/>
        </p:spPr>
        <p:txBody>
          <a:bodyPr wrap="square" lIns="0" tIns="0" rIns="0" bIns="0" rtlCol="0" anchor="t"/>
          <a:lstStyle/>
          <a:p>
            <a:pPr indent="0" marL="0">
              <a:lnSpc>
                <a:spcPct val="120000"/>
              </a:lnSpc>
              <a:buNone/>
            </a:pPr>
            <a:r>
              <a:rPr lang="en-US" sz="1500" dirty="0">
                <a:solidFill>
                  <a:srgbClr val="16191D"/>
                </a:solidFill>
                <a:latin typeface="Calibri" pitchFamily="34" charset="0"/>
                <a:ea typeface="Calibri" pitchFamily="34" charset="-122"/>
                <a:cs typeface="Calibri" pitchFamily="34" charset="-120"/>
              </a:rPr>
              <a:t>That the tests which exist, pass.</a:t>
            </a:r>
            <a:endParaRPr lang="en-US" sz="1500" dirty="0"/>
          </a:p>
          <a:p>
            <a:pPr indent="0" marL="0">
              <a:lnSpc>
                <a:spcPct val="120000"/>
              </a:lnSpc>
              <a:buNone/>
            </a:pPr>
            <a:endParaRPr lang="en-US" sz="1500" dirty="0"/>
          </a:p>
          <a:p>
            <a:pPr indent="0" marL="0">
              <a:lnSpc>
                <a:spcPct val="120000"/>
              </a:lnSpc>
              <a:buNone/>
            </a:pPr>
            <a:r>
              <a:rPr lang="en-US" sz="1500" dirty="0">
                <a:solidFill>
                  <a:srgbClr val="16191D"/>
                </a:solidFill>
                <a:latin typeface="Calibri" pitchFamily="34" charset="0"/>
                <a:ea typeface="Calibri" pitchFamily="34" charset="-122"/>
                <a:cs typeface="Calibri" pitchFamily="34" charset="-120"/>
              </a:rPr>
              <a:t>It says nothing at all about the tests that were supposed to be written and never were.</a:t>
            </a:r>
            <a:endParaRPr lang="en-US" sz="1500" dirty="0"/>
          </a:p>
        </p:txBody>
      </p:sp>
      <p:sp>
        <p:nvSpPr>
          <p:cNvPr id="7" name="Shape 5"/>
          <p:cNvSpPr/>
          <p:nvPr/>
        </p:nvSpPr>
        <p:spPr>
          <a:xfrm>
            <a:off x="6537960" y="1691640"/>
            <a:ext cx="5013655" cy="1874520"/>
          </a:xfrm>
          <a:prstGeom prst="roundRect">
            <a:avLst>
              <a:gd name="adj" fmla="val 2927"/>
            </a:avLst>
          </a:prstGeom>
          <a:solidFill>
            <a:srgbClr val="EDE7FB"/>
          </a:solidFill>
          <a:ln w="12700">
            <a:solidFill>
              <a:srgbClr val="CFC0F0"/>
            </a:solidFill>
            <a:prstDash val="solid"/>
          </a:ln>
        </p:spPr>
      </p:sp>
      <p:sp>
        <p:nvSpPr>
          <p:cNvPr id="8" name="Text 6"/>
          <p:cNvSpPr txBox="1"/>
          <p:nvPr/>
        </p:nvSpPr>
        <p:spPr>
          <a:xfrm>
            <a:off x="6812280" y="1874520"/>
            <a:ext cx="4572000" cy="320040"/>
          </a:xfrm>
          <a:prstGeom prst="rect">
            <a:avLst/>
          </a:prstGeom>
          <a:noFill/>
          <a:ln/>
        </p:spPr>
        <p:txBody>
          <a:bodyPr wrap="square" lIns="0" tIns="0" rIns="0" bIns="0" rtlCol="0" anchor="ctr"/>
          <a:lstStyle/>
          <a:p>
            <a:pPr indent="0" marL="0">
              <a:buNone/>
            </a:pPr>
            <a:r>
              <a:rPr lang="en-US" sz="1700" b="1" dirty="0">
                <a:solidFill>
                  <a:srgbClr val="16191D"/>
                </a:solidFill>
                <a:latin typeface="Arial" pitchFamily="34" charset="0"/>
                <a:ea typeface="Arial" pitchFamily="34" charset="-122"/>
                <a:cs typeface="Arial" pitchFamily="34" charset="-120"/>
              </a:rPr>
              <a:t>So the check is mechanical</a:t>
            </a:r>
            <a:endParaRPr lang="en-US" sz="1700" dirty="0"/>
          </a:p>
        </p:txBody>
      </p:sp>
      <p:sp>
        <p:nvSpPr>
          <p:cNvPr id="9" name="Text 7"/>
          <p:cNvSpPr txBox="1"/>
          <p:nvPr/>
        </p:nvSpPr>
        <p:spPr>
          <a:xfrm>
            <a:off x="6812280" y="2240280"/>
            <a:ext cx="4572000" cy="1234440"/>
          </a:xfrm>
          <a:prstGeom prst="rect">
            <a:avLst/>
          </a:prstGeom>
          <a:noFill/>
          <a:ln/>
        </p:spPr>
        <p:txBody>
          <a:bodyPr wrap="square" lIns="0" tIns="0" rIns="0" bIns="0" rtlCol="0" anchor="t"/>
          <a:lstStyle/>
          <a:p>
            <a:pPr indent="0" marL="0">
              <a:lnSpc>
                <a:spcPct val="120000"/>
              </a:lnSpc>
              <a:buNone/>
            </a:pPr>
            <a:r>
              <a:rPr lang="en-US" sz="1500" dirty="0">
                <a:solidFill>
                  <a:srgbClr val="16191D"/>
                </a:solidFill>
                <a:latin typeface="Calibri" pitchFamily="34" charset="0"/>
                <a:ea typeface="Calibri" pitchFamily="34" charset="-122"/>
                <a:cs typeface="Calibri" pitchFamily="34" charset="-120"/>
              </a:rPr>
              <a:t>Did the specific test files I asked for actually get created?</a:t>
            </a:r>
            <a:endParaRPr lang="en-US" sz="1500" dirty="0"/>
          </a:p>
          <a:p>
            <a:pPr indent="0" marL="0">
              <a:lnSpc>
                <a:spcPct val="120000"/>
              </a:lnSpc>
              <a:buNone/>
            </a:pPr>
            <a:endParaRPr lang="en-US" sz="1500" dirty="0"/>
          </a:p>
          <a:p>
            <a:pPr indent="0" marL="0">
              <a:lnSpc>
                <a:spcPct val="120000"/>
              </a:lnSpc>
              <a:buNone/>
            </a:pPr>
            <a:r>
              <a:rPr lang="en-US" sz="1500" dirty="0">
                <a:solidFill>
                  <a:srgbClr val="16191D"/>
                </a:solidFill>
                <a:latin typeface="Calibri" pitchFamily="34" charset="0"/>
                <a:ea typeface="Calibri" pitchFamily="34" charset="-122"/>
                <a:cs typeface="Calibri" pitchFamily="34" charset="-120"/>
              </a:rPr>
              <a:t>A test count going up is not an answer to that question.</a:t>
            </a:r>
            <a:endParaRPr lang="en-US" sz="1500" dirty="0"/>
          </a:p>
        </p:txBody>
      </p:sp>
      <p:sp>
        <p:nvSpPr>
          <p:cNvPr id="10" name="Text 8"/>
          <p:cNvSpPr txBox="1"/>
          <p:nvPr/>
        </p:nvSpPr>
        <p:spPr>
          <a:xfrm>
            <a:off x="640080" y="3749040"/>
            <a:ext cx="10911535" cy="365760"/>
          </a:xfrm>
          <a:prstGeom prst="rect">
            <a:avLst/>
          </a:prstGeom>
          <a:noFill/>
          <a:ln/>
        </p:spPr>
        <p:txBody>
          <a:bodyPr wrap="square" lIns="0" tIns="0" rIns="0" bIns="0" rtlCol="0" anchor="ctr"/>
          <a:lstStyle/>
          <a:p>
            <a:pPr indent="0" marL="0">
              <a:buNone/>
            </a:pPr>
            <a:r>
              <a:rPr lang="en-US" sz="1600" b="1" dirty="0">
                <a:solidFill>
                  <a:srgbClr val="16191D"/>
                </a:solidFill>
                <a:latin typeface="Arial" pitchFamily="34" charset="0"/>
                <a:ea typeface="Arial" pitchFamily="34" charset="-122"/>
                <a:cs typeface="Arial" pitchFamily="34" charset="-120"/>
              </a:rPr>
              <a:t>Three times this got through, all the way:</a:t>
            </a:r>
            <a:endParaRPr lang="en-US" sz="1600" dirty="0"/>
          </a:p>
        </p:txBody>
      </p:sp>
      <p:sp>
        <p:nvSpPr>
          <p:cNvPr id="11" name="Shape 9"/>
          <p:cNvSpPr/>
          <p:nvPr/>
        </p:nvSpPr>
        <p:spPr>
          <a:xfrm>
            <a:off x="658368" y="4187952"/>
            <a:ext cx="420624" cy="420624"/>
          </a:xfrm>
          <a:prstGeom prst="ellipse">
            <a:avLst/>
          </a:prstGeom>
          <a:solidFill>
            <a:srgbClr val="C1690C"/>
          </a:solidFill>
          <a:ln/>
        </p:spPr>
      </p:sp>
      <p:sp>
        <p:nvSpPr>
          <p:cNvPr id="12" name="Text 10"/>
          <p:cNvSpPr txBox="1"/>
          <p:nvPr/>
        </p:nvSpPr>
        <p:spPr>
          <a:xfrm>
            <a:off x="658368" y="418795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1"/>
          <p:cNvSpPr txBox="1"/>
          <p:nvPr/>
        </p:nvSpPr>
        <p:spPr>
          <a:xfrm>
            <a:off x="1234440" y="4187952"/>
            <a:ext cx="10317175" cy="420624"/>
          </a:xfrm>
          <a:prstGeom prst="rect">
            <a:avLst/>
          </a:prstGeom>
          <a:noFill/>
          <a:ln/>
        </p:spPr>
        <p:txBody>
          <a:bodyPr wrap="square" lIns="0" tIns="0" rIns="0" bIns="0" rtlCol="0" anchor="ctr"/>
          <a:lstStyle/>
          <a:p>
            <a:pPr indent="0" marL="0">
              <a:buNone/>
            </a:pPr>
            <a:r>
              <a:rPr lang="en-US" sz="1450" dirty="0">
                <a:solidFill>
                  <a:srgbClr val="16191D"/>
                </a:solidFill>
                <a:latin typeface="Calibri" pitchFamily="34" charset="0"/>
                <a:ea typeface="Calibri" pitchFamily="34" charset="-122"/>
                <a:cs typeface="Calibri" pitchFamily="34" charset="-120"/>
              </a:rPr>
              <a:t>A feature shipped where every button quietly led to the wrong place. The screen was untestable and untested.</a:t>
            </a:r>
            <a:endParaRPr lang="en-US" sz="1450" dirty="0"/>
          </a:p>
        </p:txBody>
      </p:sp>
      <p:sp>
        <p:nvSpPr>
          <p:cNvPr id="14" name="Shape 12"/>
          <p:cNvSpPr/>
          <p:nvPr/>
        </p:nvSpPr>
        <p:spPr>
          <a:xfrm>
            <a:off x="658368" y="4700016"/>
            <a:ext cx="420624" cy="420624"/>
          </a:xfrm>
          <a:prstGeom prst="ellipse">
            <a:avLst/>
          </a:prstGeom>
          <a:solidFill>
            <a:srgbClr val="C1690C"/>
          </a:solidFill>
          <a:ln/>
        </p:spPr>
      </p:sp>
      <p:sp>
        <p:nvSpPr>
          <p:cNvPr id="15" name="Text 13"/>
          <p:cNvSpPr txBox="1"/>
          <p:nvPr/>
        </p:nvSpPr>
        <p:spPr>
          <a:xfrm>
            <a:off x="658368" y="470001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6" name="Text 14"/>
          <p:cNvSpPr txBox="1"/>
          <p:nvPr/>
        </p:nvSpPr>
        <p:spPr>
          <a:xfrm>
            <a:off x="1234440" y="4700016"/>
            <a:ext cx="10317175" cy="420624"/>
          </a:xfrm>
          <a:prstGeom prst="rect">
            <a:avLst/>
          </a:prstGeom>
          <a:noFill/>
          <a:ln/>
        </p:spPr>
        <p:txBody>
          <a:bodyPr wrap="square" lIns="0" tIns="0" rIns="0" bIns="0" rtlCol="0" anchor="ctr"/>
          <a:lstStyle/>
          <a:p>
            <a:pPr indent="0" marL="0">
              <a:buNone/>
            </a:pPr>
            <a:r>
              <a:rPr lang="en-US" sz="1450" dirty="0">
                <a:solidFill>
                  <a:srgbClr val="16191D"/>
                </a:solidFill>
                <a:latin typeface="Calibri" pitchFamily="34" charset="0"/>
                <a:ea typeface="Calibri" pitchFamily="34" charset="-122"/>
                <a:cs typeface="Calibri" pitchFamily="34" charset="-120"/>
              </a:rPr>
              <a:t>A helper function with beautiful tests. The one place that actually used it passed it an empty list. Dead code.</a:t>
            </a:r>
            <a:endParaRPr lang="en-US" sz="1450" dirty="0"/>
          </a:p>
        </p:txBody>
      </p:sp>
      <p:sp>
        <p:nvSpPr>
          <p:cNvPr id="17" name="Shape 15"/>
          <p:cNvSpPr/>
          <p:nvPr/>
        </p:nvSpPr>
        <p:spPr>
          <a:xfrm>
            <a:off x="658368" y="5212080"/>
            <a:ext cx="420624" cy="420624"/>
          </a:xfrm>
          <a:prstGeom prst="ellipse">
            <a:avLst/>
          </a:prstGeom>
          <a:solidFill>
            <a:srgbClr val="C1690C"/>
          </a:solidFill>
          <a:ln/>
        </p:spPr>
      </p:sp>
      <p:sp>
        <p:nvSpPr>
          <p:cNvPr id="18" name="Text 16"/>
          <p:cNvSpPr txBox="1"/>
          <p:nvPr/>
        </p:nvSpPr>
        <p:spPr>
          <a:xfrm>
            <a:off x="658368" y="52120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9" name="Text 17"/>
          <p:cNvSpPr txBox="1"/>
          <p:nvPr/>
        </p:nvSpPr>
        <p:spPr>
          <a:xfrm>
            <a:off x="1234440" y="5212080"/>
            <a:ext cx="10317175" cy="420624"/>
          </a:xfrm>
          <a:prstGeom prst="rect">
            <a:avLst/>
          </a:prstGeom>
          <a:noFill/>
          <a:ln/>
        </p:spPr>
        <p:txBody>
          <a:bodyPr wrap="square" lIns="0" tIns="0" rIns="0" bIns="0" rtlCol="0" anchor="ctr"/>
          <a:lstStyle/>
          <a:p>
            <a:pPr indent="0" marL="0">
              <a:buNone/>
            </a:pPr>
            <a:r>
              <a:rPr lang="en-US" sz="1450" dirty="0">
                <a:solidFill>
                  <a:srgbClr val="16191D"/>
                </a:solidFill>
                <a:latin typeface="Calibri" pitchFamily="34" charset="0"/>
                <a:ea typeface="Calibri" pitchFamily="34" charset="-122"/>
                <a:cs typeface="Calibri" pitchFamily="34" charset="-120"/>
              </a:rPr>
              <a:t>A backup that skipped one table — and the restore deleted that table first. Every restore destroyed the audit trail.</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algn="l" indent="0" marL="0">
              <a:buNone/>
            </a:pPr>
            <a:r>
              <a:rPr lang="en-US" sz="3800" b="1" spc="-30" kern="0" dirty="0">
                <a:solidFill>
                  <a:srgbClr val="16191D"/>
                </a:solidFill>
                <a:latin typeface="Arial" pitchFamily="34" charset="0"/>
                <a:ea typeface="Arial" pitchFamily="34" charset="-122"/>
                <a:cs typeface="Arial" pitchFamily="34" charset="-120"/>
              </a:rPr>
              <a:t>If it only exists in the chat, it is gone</a:t>
            </a:r>
            <a:endParaRPr lang="en-US" sz="3800" dirty="0"/>
          </a:p>
        </p:txBody>
      </p:sp>
      <p:sp>
        <p:nvSpPr>
          <p:cNvPr id="3" name="Text 1"/>
          <p:cNvSpPr txBox="1"/>
          <p:nvPr/>
        </p:nvSpPr>
        <p:spPr>
          <a:xfrm>
            <a:off x="640080" y="1234440"/>
            <a:ext cx="10911535" cy="274320"/>
          </a:xfrm>
          <a:prstGeom prst="rect">
            <a:avLst/>
          </a:prstGeom>
          <a:noFill/>
          <a:ln/>
        </p:spPr>
        <p:txBody>
          <a:bodyPr wrap="square" lIns="0" tIns="0" rIns="0" bIns="0" rtlCol="0" anchor="ctr"/>
          <a:lstStyle/>
          <a:p>
            <a:pPr algn="l" indent="0" marL="0">
              <a:buNone/>
            </a:pPr>
            <a:r>
              <a:rPr lang="en-US" sz="1100" b="1" spc="120" kern="0" dirty="0">
                <a:solidFill>
                  <a:srgbClr val="6D4AC4"/>
                </a:solidFill>
                <a:latin typeface="Courier New" pitchFamily="34" charset="0"/>
                <a:ea typeface="Courier New" pitchFamily="34" charset="-122"/>
                <a:cs typeface="Courier New" pitchFamily="34" charset="-120"/>
              </a:rPr>
              <a:t>WHAT ACTUALLY SURVIVES</a:t>
            </a:r>
            <a:endParaRPr lang="en-US" sz="1100" dirty="0"/>
          </a:p>
        </p:txBody>
      </p:sp>
      <p:sp>
        <p:nvSpPr>
          <p:cNvPr id="4" name="Shape 2"/>
          <p:cNvSpPr/>
          <p:nvPr/>
        </p:nvSpPr>
        <p:spPr>
          <a:xfrm>
            <a:off x="640080" y="1691640"/>
            <a:ext cx="5272888" cy="1920240"/>
          </a:xfrm>
          <a:prstGeom prst="roundRect">
            <a:avLst>
              <a:gd name="adj" fmla="val 2857"/>
            </a:avLst>
          </a:prstGeom>
          <a:solidFill>
            <a:srgbClr val="F4F5F7"/>
          </a:solidFill>
          <a:ln w="12700">
            <a:solidFill>
              <a:srgbClr val="DCE0E6"/>
            </a:solidFill>
            <a:prstDash val="solid"/>
          </a:ln>
        </p:spPr>
      </p:sp>
      <p:sp>
        <p:nvSpPr>
          <p:cNvPr id="5" name="Shape 3"/>
          <p:cNvSpPr/>
          <p:nvPr/>
        </p:nvSpPr>
        <p:spPr>
          <a:xfrm>
            <a:off x="914400" y="1929384"/>
            <a:ext cx="420624" cy="420624"/>
          </a:xfrm>
          <a:prstGeom prst="ellipse">
            <a:avLst/>
          </a:prstGeom>
          <a:solidFill>
            <a:srgbClr val="6D4AC4"/>
          </a:solidFill>
          <a:ln/>
        </p:spPr>
      </p:sp>
      <p:sp>
        <p:nvSpPr>
          <p:cNvPr id="6" name="Text 4"/>
          <p:cNvSpPr txBox="1"/>
          <p:nvPr/>
        </p:nvSpPr>
        <p:spPr>
          <a:xfrm>
            <a:off x="914400" y="192938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508760" y="1892808"/>
            <a:ext cx="4129888" cy="502920"/>
          </a:xfrm>
          <a:prstGeom prst="rect">
            <a:avLst/>
          </a:prstGeom>
          <a:noFill/>
          <a:ln/>
        </p:spPr>
        <p:txBody>
          <a:bodyPr wrap="square" lIns="0" tIns="0" rIns="0" bIns="0" rtlCol="0" anchor="ctr"/>
          <a:lstStyle/>
          <a:p>
            <a:pPr indent="0" marL="0">
              <a:lnSpc>
                <a:spcPct val="110000"/>
              </a:lnSpc>
              <a:buNone/>
            </a:pPr>
            <a:r>
              <a:rPr lang="en-US" sz="1600" b="1" dirty="0">
                <a:solidFill>
                  <a:srgbClr val="16191D"/>
                </a:solidFill>
                <a:latin typeface="Arial" pitchFamily="34" charset="0"/>
                <a:ea typeface="Arial" pitchFamily="34" charset="-122"/>
                <a:cs typeface="Arial" pitchFamily="34" charset="-120"/>
              </a:rPr>
              <a:t>Ask for the work as a file, not an answer</a:t>
            </a:r>
            <a:endParaRPr lang="en-US" sz="1600" dirty="0"/>
          </a:p>
        </p:txBody>
      </p:sp>
      <p:sp>
        <p:nvSpPr>
          <p:cNvPr id="8" name="Text 6"/>
          <p:cNvSpPr txBox="1"/>
          <p:nvPr/>
        </p:nvSpPr>
        <p:spPr>
          <a:xfrm>
            <a:off x="914400" y="2496312"/>
            <a:ext cx="4724248" cy="1005840"/>
          </a:xfrm>
          <a:prstGeom prst="rect">
            <a:avLst/>
          </a:prstGeom>
          <a:noFill/>
          <a:ln/>
        </p:spPr>
        <p:txBody>
          <a:bodyPr wrap="square" lIns="0" tIns="0" rIns="0" bIns="0" rtlCol="0" anchor="t"/>
          <a:lstStyle/>
          <a:p>
            <a:pPr indent="0" marL="0">
              <a:lnSpc>
                <a:spcPct val="118000"/>
              </a:lnSpc>
              <a:buNone/>
            </a:pPr>
            <a:r>
              <a:rPr lang="en-US" sz="1350" dirty="0">
                <a:solidFill>
                  <a:srgbClr val="16191D"/>
                </a:solidFill>
                <a:latin typeface="Calibri" pitchFamily="34" charset="0"/>
                <a:ea typeface="Calibri" pitchFamily="34" charset="-122"/>
                <a:cs typeface="Calibri" pitchFamily="34" charset="-120"/>
              </a:rPr>
              <a:t>Anything printed into the conversation is lost the moment the connection drops, and cut short if the job is stopped. I lost an hour of finished work learning this. A file on disk survives both.</a:t>
            </a:r>
            <a:endParaRPr lang="en-US" sz="1350" dirty="0"/>
          </a:p>
        </p:txBody>
      </p:sp>
      <p:sp>
        <p:nvSpPr>
          <p:cNvPr id="9" name="Shape 7"/>
          <p:cNvSpPr/>
          <p:nvPr/>
        </p:nvSpPr>
        <p:spPr>
          <a:xfrm>
            <a:off x="6278728" y="1691640"/>
            <a:ext cx="5272888" cy="1920240"/>
          </a:xfrm>
          <a:prstGeom prst="roundRect">
            <a:avLst>
              <a:gd name="adj" fmla="val 2857"/>
            </a:avLst>
          </a:prstGeom>
          <a:solidFill>
            <a:srgbClr val="F4F5F7"/>
          </a:solidFill>
          <a:ln w="12700">
            <a:solidFill>
              <a:srgbClr val="DCE0E6"/>
            </a:solidFill>
            <a:prstDash val="solid"/>
          </a:ln>
        </p:spPr>
      </p:sp>
      <p:sp>
        <p:nvSpPr>
          <p:cNvPr id="10" name="Shape 8"/>
          <p:cNvSpPr/>
          <p:nvPr/>
        </p:nvSpPr>
        <p:spPr>
          <a:xfrm>
            <a:off x="6553048" y="1929384"/>
            <a:ext cx="420624" cy="420624"/>
          </a:xfrm>
          <a:prstGeom prst="ellipse">
            <a:avLst/>
          </a:prstGeom>
          <a:solidFill>
            <a:srgbClr val="17795E"/>
          </a:solidFill>
          <a:ln/>
        </p:spPr>
      </p:sp>
      <p:sp>
        <p:nvSpPr>
          <p:cNvPr id="11" name="Text 9"/>
          <p:cNvSpPr txBox="1"/>
          <p:nvPr/>
        </p:nvSpPr>
        <p:spPr>
          <a:xfrm>
            <a:off x="6553048" y="192938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7147408" y="1892808"/>
            <a:ext cx="4129888" cy="502920"/>
          </a:xfrm>
          <a:prstGeom prst="rect">
            <a:avLst/>
          </a:prstGeom>
          <a:noFill/>
          <a:ln/>
        </p:spPr>
        <p:txBody>
          <a:bodyPr wrap="square" lIns="0" tIns="0" rIns="0" bIns="0" rtlCol="0" anchor="ctr"/>
          <a:lstStyle/>
          <a:p>
            <a:pPr indent="0" marL="0">
              <a:lnSpc>
                <a:spcPct val="110000"/>
              </a:lnSpc>
              <a:buNone/>
            </a:pPr>
            <a:r>
              <a:rPr lang="en-US" sz="1600" b="1" dirty="0">
                <a:solidFill>
                  <a:srgbClr val="16191D"/>
                </a:solidFill>
                <a:latin typeface="Arial" pitchFamily="34" charset="0"/>
                <a:ea typeface="Arial" pitchFamily="34" charset="-122"/>
                <a:cs typeface="Arial" pitchFamily="34" charset="-120"/>
              </a:rPr>
              <a:t>Make it keep a diary</a:t>
            </a:r>
            <a:endParaRPr lang="en-US" sz="1600" dirty="0"/>
          </a:p>
        </p:txBody>
      </p:sp>
      <p:sp>
        <p:nvSpPr>
          <p:cNvPr id="13" name="Text 11"/>
          <p:cNvSpPr txBox="1"/>
          <p:nvPr/>
        </p:nvSpPr>
        <p:spPr>
          <a:xfrm>
            <a:off x="6553048" y="2496312"/>
            <a:ext cx="4724248" cy="1005840"/>
          </a:xfrm>
          <a:prstGeom prst="rect">
            <a:avLst/>
          </a:prstGeom>
          <a:noFill/>
          <a:ln/>
        </p:spPr>
        <p:txBody>
          <a:bodyPr wrap="square" lIns="0" tIns="0" rIns="0" bIns="0" rtlCol="0" anchor="t"/>
          <a:lstStyle/>
          <a:p>
            <a:pPr indent="0" marL="0">
              <a:lnSpc>
                <a:spcPct val="118000"/>
              </a:lnSpc>
              <a:buNone/>
            </a:pPr>
            <a:r>
              <a:rPr lang="en-US" sz="1350" dirty="0">
                <a:solidFill>
                  <a:srgbClr val="16191D"/>
                </a:solidFill>
                <a:latin typeface="Calibri" pitchFamily="34" charset="0"/>
                <a:ea typeface="Calibri" pitchFamily="34" charset="-122"/>
                <a:cs typeface="Calibri" pitchFamily="34" charset="-120"/>
              </a:rPr>
              <a:t>One line per step, saved as it goes. That turns an hour of silence into something you can read while it is still running — and tells you where it got to if it dies.</a:t>
            </a:r>
            <a:endParaRPr lang="en-US" sz="1350" dirty="0"/>
          </a:p>
        </p:txBody>
      </p:sp>
      <p:sp>
        <p:nvSpPr>
          <p:cNvPr id="14" name="Shape 12"/>
          <p:cNvSpPr/>
          <p:nvPr/>
        </p:nvSpPr>
        <p:spPr>
          <a:xfrm>
            <a:off x="640080" y="3794760"/>
            <a:ext cx="5272888" cy="1920240"/>
          </a:xfrm>
          <a:prstGeom prst="roundRect">
            <a:avLst>
              <a:gd name="adj" fmla="val 2857"/>
            </a:avLst>
          </a:prstGeom>
          <a:solidFill>
            <a:srgbClr val="F4F5F7"/>
          </a:solidFill>
          <a:ln w="12700">
            <a:solidFill>
              <a:srgbClr val="DCE0E6"/>
            </a:solidFill>
            <a:prstDash val="solid"/>
          </a:ln>
        </p:spPr>
      </p:sp>
      <p:sp>
        <p:nvSpPr>
          <p:cNvPr id="15" name="Shape 13"/>
          <p:cNvSpPr/>
          <p:nvPr/>
        </p:nvSpPr>
        <p:spPr>
          <a:xfrm>
            <a:off x="914400" y="4032504"/>
            <a:ext cx="420624" cy="420624"/>
          </a:xfrm>
          <a:prstGeom prst="ellipse">
            <a:avLst/>
          </a:prstGeom>
          <a:solidFill>
            <a:srgbClr val="6D4AC4"/>
          </a:solidFill>
          <a:ln/>
        </p:spPr>
      </p:sp>
      <p:sp>
        <p:nvSpPr>
          <p:cNvPr id="16" name="Text 14"/>
          <p:cNvSpPr txBox="1"/>
          <p:nvPr/>
        </p:nvSpPr>
        <p:spPr>
          <a:xfrm>
            <a:off x="914400" y="403250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1508760" y="3995928"/>
            <a:ext cx="4129888" cy="502920"/>
          </a:xfrm>
          <a:prstGeom prst="rect">
            <a:avLst/>
          </a:prstGeom>
          <a:noFill/>
          <a:ln/>
        </p:spPr>
        <p:txBody>
          <a:bodyPr wrap="square" lIns="0" tIns="0" rIns="0" bIns="0" rtlCol="0" anchor="ctr"/>
          <a:lstStyle/>
          <a:p>
            <a:pPr indent="0" marL="0">
              <a:lnSpc>
                <a:spcPct val="110000"/>
              </a:lnSpc>
              <a:buNone/>
            </a:pPr>
            <a:r>
              <a:rPr lang="en-US" sz="1600" b="1" dirty="0">
                <a:solidFill>
                  <a:srgbClr val="16191D"/>
                </a:solidFill>
                <a:latin typeface="Arial" pitchFamily="34" charset="0"/>
                <a:ea typeface="Arial" pitchFamily="34" charset="-122"/>
                <a:cs typeface="Arial" pitchFamily="34" charset="-120"/>
              </a:rPr>
              <a:t>Paste the rules in; do not point at them</a:t>
            </a:r>
            <a:endParaRPr lang="en-US" sz="1600" dirty="0"/>
          </a:p>
        </p:txBody>
      </p:sp>
      <p:sp>
        <p:nvSpPr>
          <p:cNvPr id="18" name="Text 16"/>
          <p:cNvSpPr txBox="1"/>
          <p:nvPr/>
        </p:nvSpPr>
        <p:spPr>
          <a:xfrm>
            <a:off x="914400" y="4599432"/>
            <a:ext cx="4724248" cy="1005840"/>
          </a:xfrm>
          <a:prstGeom prst="rect">
            <a:avLst/>
          </a:prstGeom>
          <a:noFill/>
          <a:ln/>
        </p:spPr>
        <p:txBody>
          <a:bodyPr wrap="square" lIns="0" tIns="0" rIns="0" bIns="0" rtlCol="0" anchor="t"/>
          <a:lstStyle/>
          <a:p>
            <a:pPr indent="0" marL="0">
              <a:lnSpc>
                <a:spcPct val="118000"/>
              </a:lnSpc>
              <a:buNone/>
            </a:pPr>
            <a:r>
              <a:rPr lang="en-US" sz="1350" dirty="0">
                <a:solidFill>
                  <a:srgbClr val="16191D"/>
                </a:solidFill>
                <a:latin typeface="Calibri" pitchFamily="34" charset="0"/>
                <a:ea typeface="Calibri" pitchFamily="34" charset="-122"/>
                <a:cs typeface="Calibri" pitchFamily="34" charset="-120"/>
              </a:rPr>
              <a:t>The helper cannot see your team's standards, your notes, or anything you told the expensive assistant. If a rule matters for this job, it has to be in this job's instructions.</a:t>
            </a:r>
            <a:endParaRPr lang="en-US" sz="1350" dirty="0"/>
          </a:p>
        </p:txBody>
      </p:sp>
      <p:sp>
        <p:nvSpPr>
          <p:cNvPr id="19" name="Shape 17"/>
          <p:cNvSpPr/>
          <p:nvPr/>
        </p:nvSpPr>
        <p:spPr>
          <a:xfrm>
            <a:off x="6278728" y="3794760"/>
            <a:ext cx="5272888" cy="1920240"/>
          </a:xfrm>
          <a:prstGeom prst="roundRect">
            <a:avLst>
              <a:gd name="adj" fmla="val 2857"/>
            </a:avLst>
          </a:prstGeom>
          <a:solidFill>
            <a:srgbClr val="F4F5F7"/>
          </a:solidFill>
          <a:ln w="12700">
            <a:solidFill>
              <a:srgbClr val="DCE0E6"/>
            </a:solidFill>
            <a:prstDash val="solid"/>
          </a:ln>
        </p:spPr>
      </p:sp>
      <p:sp>
        <p:nvSpPr>
          <p:cNvPr id="20" name="Shape 18"/>
          <p:cNvSpPr/>
          <p:nvPr/>
        </p:nvSpPr>
        <p:spPr>
          <a:xfrm>
            <a:off x="6553048" y="4032504"/>
            <a:ext cx="420624" cy="420624"/>
          </a:xfrm>
          <a:prstGeom prst="ellipse">
            <a:avLst/>
          </a:prstGeom>
          <a:solidFill>
            <a:srgbClr val="17795E"/>
          </a:solidFill>
          <a:ln/>
        </p:spPr>
      </p:sp>
      <p:sp>
        <p:nvSpPr>
          <p:cNvPr id="21" name="Text 19"/>
          <p:cNvSpPr txBox="1"/>
          <p:nvPr/>
        </p:nvSpPr>
        <p:spPr>
          <a:xfrm>
            <a:off x="6553048" y="403250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txBox="1"/>
          <p:nvPr/>
        </p:nvSpPr>
        <p:spPr>
          <a:xfrm>
            <a:off x="7147408" y="3995928"/>
            <a:ext cx="4129888" cy="502920"/>
          </a:xfrm>
          <a:prstGeom prst="rect">
            <a:avLst/>
          </a:prstGeom>
          <a:noFill/>
          <a:ln/>
        </p:spPr>
        <p:txBody>
          <a:bodyPr wrap="square" lIns="0" tIns="0" rIns="0" bIns="0" rtlCol="0" anchor="ctr"/>
          <a:lstStyle/>
          <a:p>
            <a:pPr indent="0" marL="0">
              <a:lnSpc>
                <a:spcPct val="110000"/>
              </a:lnSpc>
              <a:buNone/>
            </a:pPr>
            <a:r>
              <a:rPr lang="en-US" sz="1600" b="1" dirty="0">
                <a:solidFill>
                  <a:srgbClr val="16191D"/>
                </a:solidFill>
                <a:latin typeface="Arial" pitchFamily="34" charset="0"/>
                <a:ea typeface="Arial" pitchFamily="34" charset="-122"/>
                <a:cs typeface="Arial" pitchFamily="34" charset="-120"/>
              </a:rPr>
              <a:t>Say what to do when it is unsure</a:t>
            </a:r>
            <a:endParaRPr lang="en-US" sz="1600" dirty="0"/>
          </a:p>
        </p:txBody>
      </p:sp>
      <p:sp>
        <p:nvSpPr>
          <p:cNvPr id="23" name="Text 21"/>
          <p:cNvSpPr txBox="1"/>
          <p:nvPr/>
        </p:nvSpPr>
        <p:spPr>
          <a:xfrm>
            <a:off x="6553048" y="4599432"/>
            <a:ext cx="4724248" cy="1005840"/>
          </a:xfrm>
          <a:prstGeom prst="rect">
            <a:avLst/>
          </a:prstGeom>
          <a:noFill/>
          <a:ln/>
        </p:spPr>
        <p:txBody>
          <a:bodyPr wrap="square" lIns="0" tIns="0" rIns="0" bIns="0" rtlCol="0" anchor="t"/>
          <a:lstStyle/>
          <a:p>
            <a:pPr indent="0" marL="0">
              <a:lnSpc>
                <a:spcPct val="118000"/>
              </a:lnSpc>
              <a:buNone/>
            </a:pPr>
            <a:r>
              <a:rPr lang="en-US" sz="1350" dirty="0">
                <a:solidFill>
                  <a:srgbClr val="16191D"/>
                </a:solidFill>
                <a:latin typeface="Calibri" pitchFamily="34" charset="0"/>
                <a:ea typeface="Calibri" pitchFamily="34" charset="-122"/>
                <a:cs typeface="Calibri" pitchFamily="34" charset="-120"/>
              </a:rPr>
              <a:t>Told explicitly to stop rather than guess, one helper pushed back and said my instructions were wrong. It was right. That beats a confident wrong answer every time.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algn="l" indent="0" marL="0">
              <a:buNone/>
            </a:pPr>
            <a:r>
              <a:rPr lang="en-US" sz="3800" b="1" spc="-30" kern="0" dirty="0">
                <a:solidFill>
                  <a:srgbClr val="16191D"/>
                </a:solidFill>
                <a:latin typeface="Arial" pitchFamily="34" charset="0"/>
                <a:ea typeface="Arial" pitchFamily="34" charset="-122"/>
                <a:cs typeface="Arial" pitchFamily="34" charset="-120"/>
              </a:rPr>
              <a:t>Reliable beats clever</a:t>
            </a:r>
            <a:endParaRPr lang="en-US" sz="3800" dirty="0"/>
          </a:p>
        </p:txBody>
      </p:sp>
      <p:sp>
        <p:nvSpPr>
          <p:cNvPr id="3" name="Text 1"/>
          <p:cNvSpPr txBox="1"/>
          <p:nvPr/>
        </p:nvSpPr>
        <p:spPr>
          <a:xfrm>
            <a:off x="640080" y="1234440"/>
            <a:ext cx="10911535" cy="274320"/>
          </a:xfrm>
          <a:prstGeom prst="rect">
            <a:avLst/>
          </a:prstGeom>
          <a:noFill/>
          <a:ln/>
        </p:spPr>
        <p:txBody>
          <a:bodyPr wrap="square" lIns="0" tIns="0" rIns="0" bIns="0" rtlCol="0" anchor="ctr"/>
          <a:lstStyle/>
          <a:p>
            <a:pPr algn="l" indent="0" marL="0">
              <a:buNone/>
            </a:pPr>
            <a:r>
              <a:rPr lang="en-US" sz="1100" b="1" spc="120" kern="0" dirty="0">
                <a:solidFill>
                  <a:srgbClr val="6D4AC4"/>
                </a:solidFill>
                <a:latin typeface="Courier New" pitchFamily="34" charset="0"/>
                <a:ea typeface="Courier New" pitchFamily="34" charset="-122"/>
                <a:cs typeface="Courier New" pitchFamily="34" charset="-120"/>
              </a:rPr>
              <a:t>PICKING WHO DOES THE WORK</a:t>
            </a:r>
            <a:endParaRPr lang="en-US" sz="1100" dirty="0"/>
          </a:p>
        </p:txBody>
      </p:sp>
      <p:sp>
        <p:nvSpPr>
          <p:cNvPr id="4" name="Shape 2"/>
          <p:cNvSpPr/>
          <p:nvPr/>
        </p:nvSpPr>
        <p:spPr>
          <a:xfrm>
            <a:off x="640080" y="1691640"/>
            <a:ext cx="10911535" cy="1051560"/>
          </a:xfrm>
          <a:prstGeom prst="roundRect">
            <a:avLst>
              <a:gd name="adj" fmla="val 5217"/>
            </a:avLst>
          </a:prstGeom>
          <a:solidFill>
            <a:srgbClr val="EDE7FB"/>
          </a:solidFill>
          <a:ln w="12700">
            <a:solidFill>
              <a:srgbClr val="CFC0F0"/>
            </a:solidFill>
            <a:prstDash val="solid"/>
          </a:ln>
        </p:spPr>
      </p:sp>
      <p:sp>
        <p:nvSpPr>
          <p:cNvPr id="5" name="Text 3"/>
          <p:cNvSpPr txBox="1"/>
          <p:nvPr/>
        </p:nvSpPr>
        <p:spPr>
          <a:xfrm>
            <a:off x="960120" y="1691640"/>
            <a:ext cx="10271455" cy="1051560"/>
          </a:xfrm>
          <a:prstGeom prst="rect">
            <a:avLst/>
          </a:prstGeom>
          <a:noFill/>
          <a:ln/>
        </p:spPr>
        <p:txBody>
          <a:bodyPr wrap="square" lIns="0" tIns="0" rIns="0" bIns="0" rtlCol="0" anchor="ctr"/>
          <a:lstStyle/>
          <a:p>
            <a:pPr indent="0" marL="0">
              <a:lnSpc>
                <a:spcPct val="120000"/>
              </a:lnSpc>
              <a:buNone/>
            </a:pPr>
            <a:r>
              <a:rPr lang="en-US" sz="1650" b="1" dirty="0">
                <a:solidFill>
                  <a:srgbClr val="16191D"/>
                </a:solidFill>
                <a:latin typeface="Calibri" pitchFamily="34" charset="0"/>
                <a:ea typeface="Calibri" pitchFamily="34" charset="-122"/>
                <a:cs typeface="Calibri" pitchFamily="34" charset="-120"/>
              </a:rPr>
              <a:t>A brilliant helper that garbles one instruction in fifty is worse, here, than an average one that never does. The clever one stops the whole job dead; the average one keeps going.</a:t>
            </a:r>
            <a:endParaRPr lang="en-US" sz="1650" dirty="0"/>
          </a:p>
        </p:txBody>
      </p:sp>
      <p:sp>
        <p:nvSpPr>
          <p:cNvPr id="6" name="Shape 4"/>
          <p:cNvSpPr/>
          <p:nvPr/>
        </p:nvSpPr>
        <p:spPr>
          <a:xfrm>
            <a:off x="640080" y="2971800"/>
            <a:ext cx="5272888" cy="2560320"/>
          </a:xfrm>
          <a:prstGeom prst="roundRect">
            <a:avLst>
              <a:gd name="adj" fmla="val 2143"/>
            </a:avLst>
          </a:prstGeom>
          <a:solidFill>
            <a:srgbClr val="F4F5F7"/>
          </a:solidFill>
          <a:ln w="12700">
            <a:solidFill>
              <a:srgbClr val="DCE0E6"/>
            </a:solidFill>
            <a:prstDash val="solid"/>
          </a:ln>
        </p:spPr>
      </p:sp>
      <p:sp>
        <p:nvSpPr>
          <p:cNvPr id="7" name="Text 5"/>
          <p:cNvSpPr txBox="1"/>
          <p:nvPr/>
        </p:nvSpPr>
        <p:spPr>
          <a:xfrm>
            <a:off x="914400" y="3154680"/>
            <a:ext cx="4724248" cy="548640"/>
          </a:xfrm>
          <a:prstGeom prst="rect">
            <a:avLst/>
          </a:prstGeom>
          <a:noFill/>
          <a:ln/>
        </p:spPr>
        <p:txBody>
          <a:bodyPr wrap="square" lIns="0" tIns="0" rIns="0" bIns="0" rtlCol="0" anchor="t"/>
          <a:lstStyle/>
          <a:p>
            <a:pPr indent="0" marL="0">
              <a:lnSpc>
                <a:spcPct val="110000"/>
              </a:lnSpc>
              <a:buNone/>
            </a:pPr>
            <a:r>
              <a:rPr lang="en-US" sz="1700" b="1" dirty="0">
                <a:solidFill>
                  <a:srgbClr val="16191D"/>
                </a:solidFill>
                <a:latin typeface="Arial" pitchFamily="34" charset="0"/>
                <a:ea typeface="Arial" pitchFamily="34" charset="-122"/>
                <a:cs typeface="Arial" pitchFamily="34" charset="-120"/>
              </a:rPr>
              <a:t>Benchmark scores are not the question</a:t>
            </a:r>
            <a:endParaRPr lang="en-US" sz="1700" dirty="0"/>
          </a:p>
        </p:txBody>
      </p:sp>
      <p:sp>
        <p:nvSpPr>
          <p:cNvPr id="8" name="Text 6"/>
          <p:cNvSpPr txBox="1"/>
          <p:nvPr/>
        </p:nvSpPr>
        <p:spPr>
          <a:xfrm>
            <a:off x="914400" y="3749040"/>
            <a:ext cx="4724248" cy="1645920"/>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These helpers work by asking for one small action at a time — open this, change that. Phrase one of those requests wrong and the run ends there.</a:t>
            </a:r>
            <a:endParaRPr lang="en-US" sz="1400" dirty="0"/>
          </a:p>
          <a:p>
            <a:pPr indent="0" marL="0">
              <a:lnSpc>
                <a:spcPct val="120000"/>
              </a:lnSpc>
              <a:buNone/>
            </a:pPr>
            <a:endParaRPr lang="en-US" sz="1400" dirty="0"/>
          </a:p>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The most common failure in my testing was not the model's fault at all: a bug in the plumbing between the model and the tools.</a:t>
            </a:r>
            <a:endParaRPr lang="en-US" sz="1400" dirty="0"/>
          </a:p>
        </p:txBody>
      </p:sp>
      <p:sp>
        <p:nvSpPr>
          <p:cNvPr id="9" name="Shape 7"/>
          <p:cNvSpPr/>
          <p:nvPr/>
        </p:nvSpPr>
        <p:spPr>
          <a:xfrm>
            <a:off x="6278728" y="2971800"/>
            <a:ext cx="5272888" cy="2560320"/>
          </a:xfrm>
          <a:prstGeom prst="roundRect">
            <a:avLst>
              <a:gd name="adj" fmla="val 2143"/>
            </a:avLst>
          </a:prstGeom>
          <a:solidFill>
            <a:srgbClr val="E4F2ED"/>
          </a:solidFill>
          <a:ln w="12700">
            <a:solidFill>
              <a:srgbClr val="A9D6C7"/>
            </a:solidFill>
            <a:prstDash val="solid"/>
          </a:ln>
        </p:spPr>
      </p:sp>
      <p:sp>
        <p:nvSpPr>
          <p:cNvPr id="10" name="Text 8"/>
          <p:cNvSpPr txBox="1"/>
          <p:nvPr/>
        </p:nvSpPr>
        <p:spPr>
          <a:xfrm>
            <a:off x="6553048" y="3154680"/>
            <a:ext cx="4724248" cy="320040"/>
          </a:xfrm>
          <a:prstGeom prst="rect">
            <a:avLst/>
          </a:prstGeom>
          <a:noFill/>
          <a:ln/>
        </p:spPr>
        <p:txBody>
          <a:bodyPr wrap="square" lIns="0" tIns="0" rIns="0" bIns="0" rtlCol="0" anchor="ctr"/>
          <a:lstStyle/>
          <a:p>
            <a:pPr indent="0" marL="0">
              <a:buNone/>
            </a:pPr>
            <a:r>
              <a:rPr lang="en-US" sz="1700" b="1" dirty="0">
                <a:solidFill>
                  <a:srgbClr val="17795E"/>
                </a:solidFill>
                <a:latin typeface="Arial" pitchFamily="34" charset="0"/>
                <a:ea typeface="Arial" pitchFamily="34" charset="-122"/>
                <a:cs typeface="Arial" pitchFamily="34" charset="-120"/>
              </a:rPr>
              <a:t>So we keep a scorecard</a:t>
            </a:r>
            <a:endParaRPr lang="en-US" sz="1700" dirty="0"/>
          </a:p>
        </p:txBody>
      </p:sp>
      <p:sp>
        <p:nvSpPr>
          <p:cNvPr id="11" name="Text 9"/>
          <p:cNvSpPr txBox="1"/>
          <p:nvPr/>
        </p:nvSpPr>
        <p:spPr>
          <a:xfrm>
            <a:off x="6553048" y="3547872"/>
            <a:ext cx="4724248" cy="1737360"/>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All 34 available models, with what we actually know about each one — and, deliberately, blank cells where we do not know.</a:t>
            </a:r>
            <a:endParaRPr lang="en-US" sz="1400" dirty="0"/>
          </a:p>
          <a:p>
            <a:pPr indent="0" marL="0">
              <a:lnSpc>
                <a:spcPct val="120000"/>
              </a:lnSpc>
              <a:buNone/>
            </a:pPr>
            <a:endParaRPr lang="en-US" sz="1400" dirty="0"/>
          </a:p>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A guessed number here fails silently later. An honest blank makes someone go and check. Four models are on a do-not-use list purely from watching them work.</a:t>
            </a:r>
            <a:endParaRPr lang="en-US" sz="1400" dirty="0"/>
          </a:p>
        </p:txBody>
      </p:sp>
      <p:sp>
        <p:nvSpPr>
          <p:cNvPr id="12" name="Text 10"/>
          <p:cNvSpPr txBox="1"/>
          <p:nvPr/>
        </p:nvSpPr>
        <p:spPr>
          <a:xfrm>
            <a:off x="640080" y="6144768"/>
            <a:ext cx="10911535" cy="411480"/>
          </a:xfrm>
          <a:prstGeom prst="rect">
            <a:avLst/>
          </a:prstGeom>
          <a:noFill/>
          <a:ln/>
        </p:spPr>
        <p:txBody>
          <a:bodyPr wrap="square" lIns="0" tIns="0" rIns="0" bIns="0" rtlCol="0" anchor="ctr"/>
          <a:lstStyle/>
          <a:p>
            <a:pPr algn="l" indent="0" marL="0">
              <a:buNone/>
            </a:pPr>
            <a:r>
              <a:rPr lang="en-US" sz="1300" i="1" dirty="0">
                <a:solidFill>
                  <a:srgbClr val="6B7280"/>
                </a:solidFill>
                <a:latin typeface="Calibri" pitchFamily="34" charset="0"/>
                <a:ea typeface="Calibri" pitchFamily="34" charset="-122"/>
                <a:cs typeface="Calibri" pitchFamily="34" charset="-120"/>
              </a:rPr>
              <a:t>The generalisable bit: for unattended work, measure whether something is dependable — not whether it is impressive.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algn="l" indent="0" marL="0">
              <a:buNone/>
            </a:pPr>
            <a:r>
              <a:rPr lang="en-US" sz="3800" b="1" spc="-30" kern="0" dirty="0">
                <a:solidFill>
                  <a:srgbClr val="16191D"/>
                </a:solidFill>
                <a:latin typeface="Arial" pitchFamily="34" charset="0"/>
                <a:ea typeface="Arial" pitchFamily="34" charset="-122"/>
                <a:cs typeface="Arial" pitchFamily="34" charset="-120"/>
              </a:rPr>
              <a:t>“But my company pays for the good one”</a:t>
            </a:r>
            <a:endParaRPr lang="en-US" sz="3800" dirty="0"/>
          </a:p>
        </p:txBody>
      </p:sp>
      <p:sp>
        <p:nvSpPr>
          <p:cNvPr id="3" name="Text 1"/>
          <p:cNvSpPr txBox="1"/>
          <p:nvPr/>
        </p:nvSpPr>
        <p:spPr>
          <a:xfrm>
            <a:off x="640080" y="1234440"/>
            <a:ext cx="10911535" cy="274320"/>
          </a:xfrm>
          <a:prstGeom prst="rect">
            <a:avLst/>
          </a:prstGeom>
          <a:noFill/>
          <a:ln/>
        </p:spPr>
        <p:txBody>
          <a:bodyPr wrap="square" lIns="0" tIns="0" rIns="0" bIns="0" rtlCol="0" anchor="ctr"/>
          <a:lstStyle/>
          <a:p>
            <a:pPr algn="l" indent="0" marL="0">
              <a:buNone/>
            </a:pPr>
            <a:r>
              <a:rPr lang="en-US" sz="1100" b="1" spc="120" kern="0" dirty="0">
                <a:solidFill>
                  <a:srgbClr val="6D4AC4"/>
                </a:solidFill>
                <a:latin typeface="Courier New" pitchFamily="34" charset="0"/>
                <a:ea typeface="Courier New" pitchFamily="34" charset="-122"/>
                <a:cs typeface="Courier New" pitchFamily="34" charset="-120"/>
              </a:rPr>
              <a:t>THE FAIR OBJECTION</a:t>
            </a:r>
            <a:endParaRPr lang="en-US" sz="1100" dirty="0"/>
          </a:p>
        </p:txBody>
      </p:sp>
      <p:sp>
        <p:nvSpPr>
          <p:cNvPr id="4" name="Shape 2"/>
          <p:cNvSpPr/>
          <p:nvPr/>
        </p:nvSpPr>
        <p:spPr>
          <a:xfrm>
            <a:off x="640080" y="1691640"/>
            <a:ext cx="5577840" cy="1600200"/>
          </a:xfrm>
          <a:prstGeom prst="roundRect">
            <a:avLst>
              <a:gd name="adj" fmla="val 3429"/>
            </a:avLst>
          </a:prstGeom>
          <a:solidFill>
            <a:srgbClr val="F4F5F7"/>
          </a:solidFill>
          <a:ln w="12700">
            <a:solidFill>
              <a:srgbClr val="DCE0E6"/>
            </a:solidFill>
            <a:prstDash val="solid"/>
          </a:ln>
        </p:spPr>
      </p:sp>
      <p:sp>
        <p:nvSpPr>
          <p:cNvPr id="5" name="Text 3"/>
          <p:cNvSpPr txBox="1"/>
          <p:nvPr/>
        </p:nvSpPr>
        <p:spPr>
          <a:xfrm>
            <a:off x="914400" y="1874520"/>
            <a:ext cx="5029200" cy="320040"/>
          </a:xfrm>
          <a:prstGeom prst="rect">
            <a:avLst/>
          </a:prstGeom>
          <a:noFill/>
          <a:ln/>
        </p:spPr>
        <p:txBody>
          <a:bodyPr wrap="square" lIns="0" tIns="0" rIns="0" bIns="0" rtlCol="0" anchor="ctr"/>
          <a:lstStyle/>
          <a:p>
            <a:pPr indent="0" marL="0">
              <a:buNone/>
            </a:pPr>
            <a:r>
              <a:rPr lang="en-US" sz="1700" b="1" dirty="0">
                <a:solidFill>
                  <a:srgbClr val="16191D"/>
                </a:solidFill>
                <a:latin typeface="Arial" pitchFamily="34" charset="0"/>
                <a:ea typeface="Arial" pitchFamily="34" charset="-122"/>
                <a:cs typeface="Arial" pitchFamily="34" charset="-120"/>
              </a:rPr>
              <a:t>Then most of this is not for you</a:t>
            </a:r>
            <a:endParaRPr lang="en-US" sz="1700" dirty="0"/>
          </a:p>
        </p:txBody>
      </p:sp>
      <p:sp>
        <p:nvSpPr>
          <p:cNvPr id="6" name="Text 4"/>
          <p:cNvSpPr txBox="1"/>
          <p:nvPr/>
        </p:nvSpPr>
        <p:spPr>
          <a:xfrm>
            <a:off x="914400" y="2240280"/>
            <a:ext cx="5029200" cy="960120"/>
          </a:xfrm>
          <a:prstGeom prst="rect">
            <a:avLst/>
          </a:prstGeom>
          <a:noFill/>
          <a:ln/>
        </p:spPr>
        <p:txBody>
          <a:bodyPr wrap="square" lIns="0" tIns="0" rIns="0" bIns="0" rtlCol="0" anchor="t"/>
          <a:lstStyle/>
          <a:p>
            <a:pPr indent="0" marL="0">
              <a:lnSpc>
                <a:spcPct val="120000"/>
              </a:lnSpc>
              <a:buNone/>
            </a:pPr>
            <a:r>
              <a:rPr lang="en-US" sz="1500" dirty="0">
                <a:solidFill>
                  <a:srgbClr val="16191D"/>
                </a:solidFill>
                <a:latin typeface="Calibri" pitchFamily="34" charset="0"/>
                <a:ea typeface="Calibri" pitchFamily="34" charset="-122"/>
                <a:cs typeface="Calibri" pitchFamily="34" charset="-120"/>
              </a:rPr>
              <a:t>Fair. If the budget is not the constraint, use the best model for everything and skip the arithmetic. Saving money is the main reason this exists.</a:t>
            </a:r>
            <a:endParaRPr lang="en-US" sz="1500" dirty="0"/>
          </a:p>
        </p:txBody>
      </p:sp>
      <p:sp>
        <p:nvSpPr>
          <p:cNvPr id="7" name="Shape 5"/>
          <p:cNvSpPr/>
          <p:nvPr/>
        </p:nvSpPr>
        <p:spPr>
          <a:xfrm>
            <a:off x="6537960" y="1691640"/>
            <a:ext cx="5013655" cy="1600200"/>
          </a:xfrm>
          <a:prstGeom prst="roundRect">
            <a:avLst>
              <a:gd name="adj" fmla="val 3429"/>
            </a:avLst>
          </a:prstGeom>
          <a:solidFill>
            <a:srgbClr val="E4F2ED"/>
          </a:solidFill>
          <a:ln w="12700">
            <a:solidFill>
              <a:srgbClr val="A9D6C7"/>
            </a:solidFill>
            <a:prstDash val="solid"/>
          </a:ln>
        </p:spPr>
      </p:sp>
      <p:sp>
        <p:nvSpPr>
          <p:cNvPr id="8" name="Text 6"/>
          <p:cNvSpPr txBox="1"/>
          <p:nvPr/>
        </p:nvSpPr>
        <p:spPr>
          <a:xfrm>
            <a:off x="6812280" y="1874520"/>
            <a:ext cx="4572000" cy="320040"/>
          </a:xfrm>
          <a:prstGeom prst="rect">
            <a:avLst/>
          </a:prstGeom>
          <a:noFill/>
          <a:ln/>
        </p:spPr>
        <p:txBody>
          <a:bodyPr wrap="square" lIns="0" tIns="0" rIns="0" bIns="0" rtlCol="0" anchor="ctr"/>
          <a:lstStyle/>
          <a:p>
            <a:pPr indent="0" marL="0">
              <a:buNone/>
            </a:pPr>
            <a:r>
              <a:rPr lang="en-US" sz="1700" b="1" dirty="0">
                <a:solidFill>
                  <a:srgbClr val="17795E"/>
                </a:solidFill>
                <a:latin typeface="Arial" pitchFamily="34" charset="0"/>
                <a:ea typeface="Arial" pitchFamily="34" charset="-122"/>
                <a:cs typeface="Arial" pitchFamily="34" charset="-120"/>
              </a:rPr>
              <a:t>Except for one thing</a:t>
            </a:r>
            <a:endParaRPr lang="en-US" sz="1700" dirty="0"/>
          </a:p>
        </p:txBody>
      </p:sp>
      <p:sp>
        <p:nvSpPr>
          <p:cNvPr id="9" name="Text 7"/>
          <p:cNvSpPr txBox="1"/>
          <p:nvPr/>
        </p:nvSpPr>
        <p:spPr>
          <a:xfrm>
            <a:off x="6812280" y="2240280"/>
            <a:ext cx="4572000" cy="960120"/>
          </a:xfrm>
          <a:prstGeom prst="rect">
            <a:avLst/>
          </a:prstGeom>
          <a:noFill/>
          <a:ln/>
        </p:spPr>
        <p:txBody>
          <a:bodyPr wrap="square" lIns="0" tIns="0" rIns="0" bIns="0" rtlCol="0" anchor="t"/>
          <a:lstStyle/>
          <a:p>
            <a:pPr indent="0" marL="0">
              <a:lnSpc>
                <a:spcPct val="120000"/>
              </a:lnSpc>
              <a:buNone/>
            </a:pPr>
            <a:r>
              <a:rPr lang="en-US" sz="1500" dirty="0">
                <a:solidFill>
                  <a:srgbClr val="16191D"/>
                </a:solidFill>
                <a:latin typeface="Calibri" pitchFamily="34" charset="0"/>
                <a:ea typeface="Calibri" pitchFamily="34" charset="-122"/>
                <a:cs typeface="Calibri" pitchFamily="34" charset="-120"/>
              </a:rPr>
              <a:t>A second model is a second opinion — and that has nothing to do with price.</a:t>
            </a:r>
            <a:endParaRPr lang="en-US" sz="1500" dirty="0"/>
          </a:p>
        </p:txBody>
      </p:sp>
      <p:sp>
        <p:nvSpPr>
          <p:cNvPr id="10" name="Shape 8"/>
          <p:cNvSpPr/>
          <p:nvPr/>
        </p:nvSpPr>
        <p:spPr>
          <a:xfrm>
            <a:off x="640080" y="3566160"/>
            <a:ext cx="10911535" cy="1600200"/>
          </a:xfrm>
          <a:prstGeom prst="roundRect">
            <a:avLst>
              <a:gd name="adj" fmla="val 3429"/>
            </a:avLst>
          </a:prstGeom>
          <a:solidFill>
            <a:srgbClr val="EDE7FB"/>
          </a:solidFill>
          <a:ln w="12700">
            <a:solidFill>
              <a:srgbClr val="CFC0F0"/>
            </a:solidFill>
            <a:prstDash val="solid"/>
          </a:ln>
        </p:spPr>
      </p:sp>
      <p:sp>
        <p:nvSpPr>
          <p:cNvPr id="11" name="Text 9"/>
          <p:cNvSpPr txBox="1"/>
          <p:nvPr/>
        </p:nvSpPr>
        <p:spPr>
          <a:xfrm>
            <a:off x="960120" y="3749040"/>
            <a:ext cx="10271455" cy="320040"/>
          </a:xfrm>
          <a:prstGeom prst="rect">
            <a:avLst/>
          </a:prstGeom>
          <a:noFill/>
          <a:ln/>
        </p:spPr>
        <p:txBody>
          <a:bodyPr wrap="square" lIns="0" tIns="0" rIns="0" bIns="0" rtlCol="0" anchor="ctr"/>
          <a:lstStyle/>
          <a:p>
            <a:pPr indent="0" marL="0">
              <a:buNone/>
            </a:pPr>
            <a:r>
              <a:rPr lang="en-US" sz="1700" b="1" dirty="0">
                <a:solidFill>
                  <a:srgbClr val="16191D"/>
                </a:solidFill>
                <a:latin typeface="Arial" pitchFamily="34" charset="0"/>
                <a:ea typeface="Arial" pitchFamily="34" charset="-122"/>
                <a:cs typeface="Arial" pitchFamily="34" charset="-120"/>
              </a:rPr>
              <a:t>Why you would want a different reviewer</a:t>
            </a:r>
            <a:endParaRPr lang="en-US" sz="1700" dirty="0"/>
          </a:p>
        </p:txBody>
      </p:sp>
      <p:sp>
        <p:nvSpPr>
          <p:cNvPr id="12" name="Text 10"/>
          <p:cNvSpPr txBox="1"/>
          <p:nvPr/>
        </p:nvSpPr>
        <p:spPr>
          <a:xfrm>
            <a:off x="960120" y="4114800"/>
            <a:ext cx="10271455" cy="960120"/>
          </a:xfrm>
          <a:prstGeom prst="rect">
            <a:avLst/>
          </a:prstGeom>
          <a:noFill/>
          <a:ln/>
        </p:spPr>
        <p:txBody>
          <a:bodyPr wrap="square" lIns="0" tIns="0" rIns="0" bIns="0" rtlCol="0" anchor="t"/>
          <a:lstStyle/>
          <a:p>
            <a:pPr indent="0" marL="0">
              <a:lnSpc>
                <a:spcPct val="120000"/>
              </a:lnSpc>
              <a:buNone/>
            </a:pPr>
            <a:r>
              <a:rPr lang="en-US" sz="1500" dirty="0">
                <a:solidFill>
                  <a:srgbClr val="16191D"/>
                </a:solidFill>
                <a:latin typeface="Calibri" pitchFamily="34" charset="0"/>
                <a:ea typeface="Calibri" pitchFamily="34" charset="-122"/>
                <a:cs typeface="Calibri" pitchFamily="34" charset="-120"/>
              </a:rPr>
              <a:t>Ask the same assistant that wrote something to review it, and you get a reviewer who already agrees with every choice in it. Send it to a model from a different family and you get a reader who does not share those assumptions — the same reason we do not have people review their own work. That is worth doing no matter who is paying, and it is the reason the tool lets you choose who reviews rather than fixing it in advance.</a:t>
            </a:r>
            <a:endParaRPr lang="en-US" sz="1500" dirty="0"/>
          </a:p>
        </p:txBody>
      </p:sp>
      <p:sp>
        <p:nvSpPr>
          <p:cNvPr id="13" name="Text 11"/>
          <p:cNvSpPr txBox="1"/>
          <p:nvPr/>
        </p:nvSpPr>
        <p:spPr>
          <a:xfrm>
            <a:off x="640080" y="6144768"/>
            <a:ext cx="10911535" cy="411480"/>
          </a:xfrm>
          <a:prstGeom prst="rect">
            <a:avLst/>
          </a:prstGeom>
          <a:noFill/>
          <a:ln/>
        </p:spPr>
        <p:txBody>
          <a:bodyPr wrap="square" lIns="0" tIns="0" rIns="0" bIns="0" rtlCol="0" anchor="ctr"/>
          <a:lstStyle/>
          <a:p>
            <a:pPr algn="l" indent="0" marL="0">
              <a:buNone/>
            </a:pPr>
            <a:r>
              <a:rPr lang="en-US" sz="1300" i="1" dirty="0">
                <a:solidFill>
                  <a:srgbClr val="6B7280"/>
                </a:solidFill>
                <a:latin typeface="Calibri" pitchFamily="34" charset="0"/>
                <a:ea typeface="Calibri" pitchFamily="34" charset="-122"/>
                <a:cs typeface="Calibri" pitchFamily="34" charset="-120"/>
              </a:rPr>
              <a:t>Cost is the main goal. A second opinion is the reason to keep it once cost stops mattering.</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algn="l" indent="0" marL="0">
              <a:buNone/>
            </a:pPr>
            <a:r>
              <a:rPr lang="en-US" sz="3800" b="1" spc="-30" kern="0" dirty="0">
                <a:solidFill>
                  <a:srgbClr val="16191D"/>
                </a:solidFill>
                <a:latin typeface="Arial" pitchFamily="34" charset="0"/>
                <a:ea typeface="Arial" pitchFamily="34" charset="-122"/>
                <a:cs typeface="Arial" pitchFamily="34" charset="-120"/>
              </a:rPr>
              <a:t>Four things worth stealing</a:t>
            </a:r>
            <a:endParaRPr lang="en-US" sz="3800" dirty="0"/>
          </a:p>
        </p:txBody>
      </p:sp>
      <p:sp>
        <p:nvSpPr>
          <p:cNvPr id="3" name="Text 1"/>
          <p:cNvSpPr txBox="1"/>
          <p:nvPr/>
        </p:nvSpPr>
        <p:spPr>
          <a:xfrm>
            <a:off x="640080" y="1234440"/>
            <a:ext cx="10911535" cy="274320"/>
          </a:xfrm>
          <a:prstGeom prst="rect">
            <a:avLst/>
          </a:prstGeom>
          <a:noFill/>
          <a:ln/>
        </p:spPr>
        <p:txBody>
          <a:bodyPr wrap="square" lIns="0" tIns="0" rIns="0" bIns="0" rtlCol="0" anchor="ctr"/>
          <a:lstStyle/>
          <a:p>
            <a:pPr algn="l" indent="0" marL="0">
              <a:buNone/>
            </a:pPr>
            <a:r>
              <a:rPr lang="en-US" sz="1100" b="1" spc="120" kern="0" dirty="0">
                <a:solidFill>
                  <a:srgbClr val="6D4AC4"/>
                </a:solidFill>
                <a:latin typeface="Courier New" pitchFamily="34" charset="0"/>
                <a:ea typeface="Courier New" pitchFamily="34" charset="-122"/>
                <a:cs typeface="Courier New" pitchFamily="34" charset="-120"/>
              </a:rPr>
              <a:t>TAKEAWAYS — AND NONE OF THEM ARE REALLY ABOUT AI</a:t>
            </a:r>
            <a:endParaRPr lang="en-US" sz="1100" dirty="0"/>
          </a:p>
        </p:txBody>
      </p:sp>
      <p:sp>
        <p:nvSpPr>
          <p:cNvPr id="4" name="Shape 2"/>
          <p:cNvSpPr/>
          <p:nvPr/>
        </p:nvSpPr>
        <p:spPr>
          <a:xfrm>
            <a:off x="640080" y="1737360"/>
            <a:ext cx="2522144" cy="2240280"/>
          </a:xfrm>
          <a:prstGeom prst="roundRect">
            <a:avLst>
              <a:gd name="adj" fmla="val 2449"/>
            </a:avLst>
          </a:prstGeom>
          <a:solidFill>
            <a:srgbClr val="F4F5F7"/>
          </a:solidFill>
          <a:ln w="12700">
            <a:solidFill>
              <a:srgbClr val="DCE0E6"/>
            </a:solidFill>
            <a:prstDash val="solid"/>
          </a:ln>
        </p:spPr>
      </p:sp>
      <p:sp>
        <p:nvSpPr>
          <p:cNvPr id="5" name="Shape 3"/>
          <p:cNvSpPr/>
          <p:nvPr/>
        </p:nvSpPr>
        <p:spPr>
          <a:xfrm>
            <a:off x="896112" y="1965960"/>
            <a:ext cx="420624" cy="420624"/>
          </a:xfrm>
          <a:prstGeom prst="ellipse">
            <a:avLst/>
          </a:prstGeom>
          <a:solidFill>
            <a:srgbClr val="6D4AC4"/>
          </a:solidFill>
          <a:ln/>
        </p:spPr>
      </p:sp>
      <p:sp>
        <p:nvSpPr>
          <p:cNvPr id="6" name="Text 4"/>
          <p:cNvSpPr txBox="1"/>
          <p:nvPr/>
        </p:nvSpPr>
        <p:spPr>
          <a:xfrm>
            <a:off x="896112" y="19659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896112" y="2542032"/>
            <a:ext cx="2010080" cy="713232"/>
          </a:xfrm>
          <a:prstGeom prst="rect">
            <a:avLst/>
          </a:prstGeom>
          <a:noFill/>
          <a:ln/>
        </p:spPr>
        <p:txBody>
          <a:bodyPr wrap="square" lIns="0" tIns="0" rIns="0" bIns="0" rtlCol="0" anchor="t"/>
          <a:lstStyle/>
          <a:p>
            <a:pPr indent="0" marL="0">
              <a:lnSpc>
                <a:spcPct val="112000"/>
              </a:lnSpc>
              <a:buNone/>
            </a:pPr>
            <a:r>
              <a:rPr lang="en-US" sz="1650" b="1" dirty="0">
                <a:solidFill>
                  <a:srgbClr val="16191D"/>
                </a:solidFill>
                <a:latin typeface="Arial" pitchFamily="34" charset="0"/>
                <a:ea typeface="Arial" pitchFamily="34" charset="-122"/>
                <a:cs typeface="Arial" pitchFamily="34" charset="-120"/>
              </a:rPr>
              <a:t>Written beats spoken</a:t>
            </a:r>
            <a:endParaRPr lang="en-US" sz="1650" dirty="0"/>
          </a:p>
        </p:txBody>
      </p:sp>
      <p:sp>
        <p:nvSpPr>
          <p:cNvPr id="8" name="Text 6"/>
          <p:cNvSpPr txBox="1"/>
          <p:nvPr/>
        </p:nvSpPr>
        <p:spPr>
          <a:xfrm>
            <a:off x="896112" y="3291840"/>
            <a:ext cx="2010080" cy="603504"/>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If it matters, put it in a file. Chat is not a record.</a:t>
            </a:r>
            <a:endParaRPr lang="en-US" sz="1400" dirty="0"/>
          </a:p>
        </p:txBody>
      </p:sp>
      <p:sp>
        <p:nvSpPr>
          <p:cNvPr id="9" name="Shape 7"/>
          <p:cNvSpPr/>
          <p:nvPr/>
        </p:nvSpPr>
        <p:spPr>
          <a:xfrm>
            <a:off x="3436544" y="1737360"/>
            <a:ext cx="2522144" cy="2240280"/>
          </a:xfrm>
          <a:prstGeom prst="roundRect">
            <a:avLst>
              <a:gd name="adj" fmla="val 2449"/>
            </a:avLst>
          </a:prstGeom>
          <a:solidFill>
            <a:srgbClr val="FCF1DF"/>
          </a:solidFill>
          <a:ln w="12700">
            <a:solidFill>
              <a:srgbClr val="EBCFA4"/>
            </a:solidFill>
            <a:prstDash val="solid"/>
          </a:ln>
        </p:spPr>
      </p:sp>
      <p:sp>
        <p:nvSpPr>
          <p:cNvPr id="10" name="Shape 8"/>
          <p:cNvSpPr/>
          <p:nvPr/>
        </p:nvSpPr>
        <p:spPr>
          <a:xfrm>
            <a:off x="3692576" y="1965960"/>
            <a:ext cx="420624" cy="420624"/>
          </a:xfrm>
          <a:prstGeom prst="ellipse">
            <a:avLst/>
          </a:prstGeom>
          <a:solidFill>
            <a:srgbClr val="C1690C"/>
          </a:solidFill>
          <a:ln/>
        </p:spPr>
      </p:sp>
      <p:sp>
        <p:nvSpPr>
          <p:cNvPr id="11" name="Text 9"/>
          <p:cNvSpPr txBox="1"/>
          <p:nvPr/>
        </p:nvSpPr>
        <p:spPr>
          <a:xfrm>
            <a:off x="3692576" y="19659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3692576" y="2542032"/>
            <a:ext cx="2010080" cy="713232"/>
          </a:xfrm>
          <a:prstGeom prst="rect">
            <a:avLst/>
          </a:prstGeom>
          <a:noFill/>
          <a:ln/>
        </p:spPr>
        <p:txBody>
          <a:bodyPr wrap="square" lIns="0" tIns="0" rIns="0" bIns="0" rtlCol="0" anchor="t"/>
          <a:lstStyle/>
          <a:p>
            <a:pPr indent="0" marL="0">
              <a:lnSpc>
                <a:spcPct val="112000"/>
              </a:lnSpc>
              <a:buNone/>
            </a:pPr>
            <a:r>
              <a:rPr lang="en-US" sz="1650" b="1" dirty="0">
                <a:solidFill>
                  <a:srgbClr val="16191D"/>
                </a:solidFill>
                <a:latin typeface="Arial" pitchFamily="34" charset="0"/>
                <a:ea typeface="Arial" pitchFamily="34" charset="-122"/>
                <a:cs typeface="Arial" pitchFamily="34" charset="-120"/>
              </a:rPr>
              <a:t>A report is not evidence</a:t>
            </a:r>
            <a:endParaRPr lang="en-US" sz="1650" dirty="0"/>
          </a:p>
        </p:txBody>
      </p:sp>
      <p:sp>
        <p:nvSpPr>
          <p:cNvPr id="13" name="Text 11"/>
          <p:cNvSpPr txBox="1"/>
          <p:nvPr/>
        </p:nvSpPr>
        <p:spPr>
          <a:xfrm>
            <a:off x="3692576" y="3291840"/>
            <a:ext cx="2010080" cy="603504"/>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Go and look at the work yourself.</a:t>
            </a:r>
            <a:endParaRPr lang="en-US" sz="1400" dirty="0"/>
          </a:p>
        </p:txBody>
      </p:sp>
      <p:sp>
        <p:nvSpPr>
          <p:cNvPr id="14" name="Shape 12"/>
          <p:cNvSpPr/>
          <p:nvPr/>
        </p:nvSpPr>
        <p:spPr>
          <a:xfrm>
            <a:off x="6233008" y="1737360"/>
            <a:ext cx="2522144" cy="2240280"/>
          </a:xfrm>
          <a:prstGeom prst="roundRect">
            <a:avLst>
              <a:gd name="adj" fmla="val 2449"/>
            </a:avLst>
          </a:prstGeom>
          <a:solidFill>
            <a:srgbClr val="F4F5F7"/>
          </a:solidFill>
          <a:ln w="12700">
            <a:solidFill>
              <a:srgbClr val="DCE0E6"/>
            </a:solidFill>
            <a:prstDash val="solid"/>
          </a:ln>
        </p:spPr>
      </p:sp>
      <p:sp>
        <p:nvSpPr>
          <p:cNvPr id="15" name="Shape 13"/>
          <p:cNvSpPr/>
          <p:nvPr/>
        </p:nvSpPr>
        <p:spPr>
          <a:xfrm>
            <a:off x="6489040" y="1965960"/>
            <a:ext cx="420624" cy="420624"/>
          </a:xfrm>
          <a:prstGeom prst="ellipse">
            <a:avLst/>
          </a:prstGeom>
          <a:solidFill>
            <a:srgbClr val="6D4AC4"/>
          </a:solidFill>
          <a:ln/>
        </p:spPr>
      </p:sp>
      <p:sp>
        <p:nvSpPr>
          <p:cNvPr id="16" name="Text 14"/>
          <p:cNvSpPr txBox="1"/>
          <p:nvPr/>
        </p:nvSpPr>
        <p:spPr>
          <a:xfrm>
            <a:off x="6489040" y="19659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6489040" y="2542032"/>
            <a:ext cx="2010080" cy="713232"/>
          </a:xfrm>
          <a:prstGeom prst="rect">
            <a:avLst/>
          </a:prstGeom>
          <a:noFill/>
          <a:ln/>
        </p:spPr>
        <p:txBody>
          <a:bodyPr wrap="square" lIns="0" tIns="0" rIns="0" bIns="0" rtlCol="0" anchor="t"/>
          <a:lstStyle/>
          <a:p>
            <a:pPr indent="0" marL="0">
              <a:lnSpc>
                <a:spcPct val="112000"/>
              </a:lnSpc>
              <a:buNone/>
            </a:pPr>
            <a:r>
              <a:rPr lang="en-US" sz="1650" b="1" dirty="0">
                <a:solidFill>
                  <a:srgbClr val="16191D"/>
                </a:solidFill>
                <a:latin typeface="Arial" pitchFamily="34" charset="0"/>
                <a:ea typeface="Arial" pitchFamily="34" charset="-122"/>
                <a:cs typeface="Arial" pitchFamily="34" charset="-120"/>
              </a:rPr>
              <a:t>Green is not working</a:t>
            </a:r>
            <a:endParaRPr lang="en-US" sz="1650" dirty="0"/>
          </a:p>
        </p:txBody>
      </p:sp>
      <p:sp>
        <p:nvSpPr>
          <p:cNvPr id="18" name="Text 16"/>
          <p:cNvSpPr txBox="1"/>
          <p:nvPr/>
        </p:nvSpPr>
        <p:spPr>
          <a:xfrm>
            <a:off x="6489040" y="3291840"/>
            <a:ext cx="2010080" cy="603504"/>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Check the things you asked for exist.</a:t>
            </a:r>
            <a:endParaRPr lang="en-US" sz="1400" dirty="0"/>
          </a:p>
        </p:txBody>
      </p:sp>
      <p:sp>
        <p:nvSpPr>
          <p:cNvPr id="19" name="Shape 17"/>
          <p:cNvSpPr/>
          <p:nvPr/>
        </p:nvSpPr>
        <p:spPr>
          <a:xfrm>
            <a:off x="9029471" y="1737360"/>
            <a:ext cx="2522144" cy="2240280"/>
          </a:xfrm>
          <a:prstGeom prst="roundRect">
            <a:avLst>
              <a:gd name="adj" fmla="val 2449"/>
            </a:avLst>
          </a:prstGeom>
          <a:solidFill>
            <a:srgbClr val="F4F5F7"/>
          </a:solidFill>
          <a:ln w="12700">
            <a:solidFill>
              <a:srgbClr val="DCE0E6"/>
            </a:solidFill>
            <a:prstDash val="solid"/>
          </a:ln>
        </p:spPr>
      </p:sp>
      <p:sp>
        <p:nvSpPr>
          <p:cNvPr id="20" name="Shape 18"/>
          <p:cNvSpPr/>
          <p:nvPr/>
        </p:nvSpPr>
        <p:spPr>
          <a:xfrm>
            <a:off x="9285503" y="1965960"/>
            <a:ext cx="420624" cy="420624"/>
          </a:xfrm>
          <a:prstGeom prst="ellipse">
            <a:avLst/>
          </a:prstGeom>
          <a:solidFill>
            <a:srgbClr val="6D4AC4"/>
          </a:solidFill>
          <a:ln/>
        </p:spPr>
      </p:sp>
      <p:sp>
        <p:nvSpPr>
          <p:cNvPr id="21" name="Text 19"/>
          <p:cNvSpPr txBox="1"/>
          <p:nvPr/>
        </p:nvSpPr>
        <p:spPr>
          <a:xfrm>
            <a:off x="9285503" y="19659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txBox="1"/>
          <p:nvPr/>
        </p:nvSpPr>
        <p:spPr>
          <a:xfrm>
            <a:off x="9285503" y="2542032"/>
            <a:ext cx="2010080" cy="713232"/>
          </a:xfrm>
          <a:prstGeom prst="rect">
            <a:avLst/>
          </a:prstGeom>
          <a:noFill/>
          <a:ln/>
        </p:spPr>
        <p:txBody>
          <a:bodyPr wrap="square" lIns="0" tIns="0" rIns="0" bIns="0" rtlCol="0" anchor="t"/>
          <a:lstStyle/>
          <a:p>
            <a:pPr indent="0" marL="0">
              <a:lnSpc>
                <a:spcPct val="112000"/>
              </a:lnSpc>
              <a:buNone/>
            </a:pPr>
            <a:r>
              <a:rPr lang="en-US" sz="1650" b="1" dirty="0">
                <a:solidFill>
                  <a:srgbClr val="16191D"/>
                </a:solidFill>
                <a:latin typeface="Arial" pitchFamily="34" charset="0"/>
                <a:ea typeface="Arial" pitchFamily="34" charset="-122"/>
                <a:cs typeface="Arial" pitchFamily="34" charset="-120"/>
              </a:rPr>
              <a:t>Dependable beats impressive</a:t>
            </a:r>
            <a:endParaRPr lang="en-US" sz="1650" dirty="0"/>
          </a:p>
        </p:txBody>
      </p:sp>
      <p:sp>
        <p:nvSpPr>
          <p:cNvPr id="23" name="Text 21"/>
          <p:cNvSpPr txBox="1"/>
          <p:nvPr/>
        </p:nvSpPr>
        <p:spPr>
          <a:xfrm>
            <a:off x="9285503" y="3291840"/>
            <a:ext cx="2010080" cy="603504"/>
          </a:xfrm>
          <a:prstGeom prst="rect">
            <a:avLst/>
          </a:prstGeom>
          <a:noFill/>
          <a:ln/>
        </p:spPr>
        <p:txBody>
          <a:bodyPr wrap="square" lIns="0" tIns="0" rIns="0" bIns="0" rtlCol="0" anchor="t"/>
          <a:lstStyle/>
          <a:p>
            <a:pPr indent="0" marL="0">
              <a:lnSpc>
                <a:spcPct val="120000"/>
              </a:lnSpc>
              <a:buNone/>
            </a:pPr>
            <a:r>
              <a:rPr lang="en-US" sz="1400" dirty="0">
                <a:solidFill>
                  <a:srgbClr val="16191D"/>
                </a:solidFill>
                <a:latin typeface="Calibri" pitchFamily="34" charset="0"/>
                <a:ea typeface="Calibri" pitchFamily="34" charset="-122"/>
                <a:cs typeface="Calibri" pitchFamily="34" charset="-120"/>
              </a:rPr>
              <a:t>For unwatched work, no surprises wins.</a:t>
            </a:r>
            <a:endParaRPr lang="en-US" sz="1400" dirty="0"/>
          </a:p>
        </p:txBody>
      </p:sp>
      <p:sp>
        <p:nvSpPr>
          <p:cNvPr id="24" name="Text 22"/>
          <p:cNvSpPr txBox="1"/>
          <p:nvPr/>
        </p:nvSpPr>
        <p:spPr>
          <a:xfrm>
            <a:off x="640080" y="4206240"/>
            <a:ext cx="7589520" cy="411480"/>
          </a:xfrm>
          <a:prstGeom prst="rect">
            <a:avLst/>
          </a:prstGeom>
          <a:noFill/>
          <a:ln/>
        </p:spPr>
        <p:txBody>
          <a:bodyPr wrap="square" lIns="0" tIns="0" rIns="0" bIns="0" rtlCol="0" anchor="ctr"/>
          <a:lstStyle/>
          <a:p>
            <a:pPr indent="0" marL="0">
              <a:buNone/>
            </a:pPr>
            <a:r>
              <a:rPr lang="en-US" sz="2000" b="1" dirty="0">
                <a:solidFill>
                  <a:srgbClr val="16191D"/>
                </a:solidFill>
                <a:latin typeface="Arial" pitchFamily="34" charset="0"/>
                <a:ea typeface="Arial" pitchFamily="34" charset="-122"/>
                <a:cs typeface="Arial" pitchFamily="34" charset="-120"/>
              </a:rPr>
              <a:t>This is just how you delegate to anyone.</a:t>
            </a:r>
            <a:endParaRPr lang="en-US" sz="2000" dirty="0"/>
          </a:p>
        </p:txBody>
      </p:sp>
      <p:sp>
        <p:nvSpPr>
          <p:cNvPr id="25" name="Text 23"/>
          <p:cNvSpPr txBox="1"/>
          <p:nvPr/>
        </p:nvSpPr>
        <p:spPr>
          <a:xfrm>
            <a:off x="640080" y="4663440"/>
            <a:ext cx="7589520" cy="640080"/>
          </a:xfrm>
          <a:prstGeom prst="rect">
            <a:avLst/>
          </a:prstGeom>
          <a:noFill/>
          <a:ln/>
        </p:spPr>
        <p:txBody>
          <a:bodyPr wrap="square" lIns="0" tIns="0" rIns="0" bIns="0" rtlCol="0" anchor="t"/>
          <a:lstStyle/>
          <a:p>
            <a:pPr indent="0" marL="0">
              <a:lnSpc>
                <a:spcPct val="120000"/>
              </a:lnSpc>
              <a:buNone/>
            </a:pPr>
            <a:r>
              <a:rPr lang="en-US" sz="1550" dirty="0">
                <a:solidFill>
                  <a:srgbClr val="6B7280"/>
                </a:solidFill>
                <a:latin typeface="Calibri" pitchFamily="34" charset="0"/>
                <a:ea typeface="Calibri" pitchFamily="34" charset="-122"/>
                <a:cs typeface="Calibri" pitchFamily="34" charset="-120"/>
              </a:rPr>
              <a:t>A fast, tireless contractor who never asks a question and always says it went fine.</a:t>
            </a:r>
            <a:endParaRPr lang="en-US" sz="1550" dirty="0"/>
          </a:p>
        </p:txBody>
      </p:sp>
      <p:sp>
        <p:nvSpPr>
          <p:cNvPr id="26" name="Shape 24"/>
          <p:cNvSpPr/>
          <p:nvPr/>
        </p:nvSpPr>
        <p:spPr>
          <a:xfrm>
            <a:off x="8503920" y="4206240"/>
            <a:ext cx="3047695" cy="1234440"/>
          </a:xfrm>
          <a:prstGeom prst="roundRect">
            <a:avLst>
              <a:gd name="adj" fmla="val 4444"/>
            </a:avLst>
          </a:prstGeom>
          <a:solidFill>
            <a:srgbClr val="16191D"/>
          </a:solidFill>
          <a:ln w="12700">
            <a:solidFill>
              <a:srgbClr val="16191D"/>
            </a:solidFill>
            <a:prstDash val="solid"/>
          </a:ln>
        </p:spPr>
      </p:sp>
      <p:sp>
        <p:nvSpPr>
          <p:cNvPr id="27" name="Text 25"/>
          <p:cNvSpPr txBox="1"/>
          <p:nvPr/>
        </p:nvSpPr>
        <p:spPr>
          <a:xfrm>
            <a:off x="8778240" y="4370832"/>
            <a:ext cx="2773375" cy="292608"/>
          </a:xfrm>
          <a:prstGeom prst="rect">
            <a:avLst/>
          </a:prstGeom>
          <a:noFill/>
          <a:ln/>
        </p:spPr>
        <p:txBody>
          <a:bodyPr wrap="square" lIns="0" tIns="0" rIns="0" bIns="0" rtlCol="0" anchor="ctr"/>
          <a:lstStyle/>
          <a:p>
            <a:pPr indent="0" marL="0">
              <a:buNone/>
            </a:pPr>
            <a:r>
              <a:rPr lang="en-US" sz="1350" dirty="0">
                <a:solidFill>
                  <a:srgbClr val="D5D9DE"/>
                </a:solidFill>
                <a:latin typeface="Calibri" pitchFamily="34" charset="0"/>
                <a:ea typeface="Calibri" pitchFamily="34" charset="-122"/>
                <a:cs typeface="Calibri" pitchFamily="34" charset="-120"/>
              </a:rPr>
              <a:t>It is free, and open source</a:t>
            </a:r>
            <a:endParaRPr lang="en-US" sz="1350" dirty="0"/>
          </a:p>
        </p:txBody>
      </p:sp>
      <p:sp>
        <p:nvSpPr>
          <p:cNvPr id="28" name="Text 26"/>
          <p:cNvSpPr txBox="1"/>
          <p:nvPr/>
        </p:nvSpPr>
        <p:spPr>
          <a:xfrm>
            <a:off x="8778240" y="4663440"/>
            <a:ext cx="2773375" cy="640080"/>
          </a:xfrm>
          <a:prstGeom prst="rect">
            <a:avLst/>
          </a:prstGeom>
          <a:noFill/>
          <a:ln/>
        </p:spPr>
        <p:txBody>
          <a:bodyPr wrap="square" lIns="0" tIns="0" rIns="0" bIns="0" rtlCol="0" anchor="ctr"/>
          <a:lstStyle/>
          <a:p>
            <a:pPr indent="0" marL="0">
              <a:lnSpc>
                <a:spcPct val="120000"/>
              </a:lnSpc>
              <a:buNone/>
            </a:pPr>
            <a:r>
              <a:rPr lang="en-US" sz="1250" b="1" dirty="0">
                <a:solidFill>
                  <a:srgbClr val="9BE8CF"/>
                </a:solidFill>
                <a:latin typeface="Courier New" pitchFamily="34" charset="0"/>
                <a:ea typeface="Courier New" pitchFamily="34" charset="-122"/>
                <a:cs typeface="Courier New" pitchFamily="34" charset="-120"/>
              </a:rPr>
              <a:t>github.com/artcar12/</a:t>
            </a:r>
            <a:endParaRPr lang="en-US" sz="1250" dirty="0"/>
          </a:p>
          <a:p>
            <a:pPr indent="0" marL="0">
              <a:lnSpc>
                <a:spcPct val="120000"/>
              </a:lnSpc>
              <a:buNone/>
            </a:pPr>
            <a:r>
              <a:rPr lang="en-US" sz="1250" b="1" dirty="0">
                <a:solidFill>
                  <a:srgbClr val="9BE8CF"/>
                </a:solidFill>
                <a:latin typeface="Courier New" pitchFamily="34" charset="0"/>
                <a:ea typeface="Courier New" pitchFamily="34" charset="-122"/>
                <a:cs typeface="Courier New" pitchFamily="34" charset="-120"/>
              </a:rPr>
              <a:t>agent-delegation-mcp</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Handing work to cheaper AI</dc:title>
  <dc:subject>PptxGenJS Presentation</dc:subject>
  <dc:creator>Arthur Carroll</dc:creator>
  <cp:lastModifiedBy>Arthur Carroll</cp:lastModifiedBy>
  <cp:revision>1</cp:revision>
  <dcterms:created xsi:type="dcterms:W3CDTF">2026-09-10T22:40:59Z</dcterms:created>
  <dcterms:modified xsi:type="dcterms:W3CDTF">2026-09-10T22:40:59Z</dcterms:modified>
</cp:coreProperties>
</file>